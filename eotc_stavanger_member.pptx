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DM Sans" pitchFamily="34" charset="0"/>
      <p:regular r:id="rId17"/>
      <p:bold r:id="rId18"/>
    </p:embeddedFont>
    <p:embeddedFont>
      <p:font typeface="Noto Sans Ethiopic" panose="020B0502040504020204" pitchFamily="34"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how to set up the monthly membership payment once, so it pays itself every month. We'll go bank by bank — find your own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forgetting is the main reason payments drop — not unwillingness. A fixed monthly payment removes that. It stays fully under the member’s control in their own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values are the same for every bank — only the menus differ. Stress the name in the message field: without it the treasurer can’t tell who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menu path. Right: the filled form. Red boxes = what to tap or fill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Rogaland Sparebank: Betaling → Faste betalinger og overføringer → fill in → Opprett betaling.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Nordea: a normal payment, then tick “Opprett fast betaling” at the bottom, choose Månedlig and Inntil videre.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Sparebanken Norge is the new name for Sparebanken Vest. The path is hidden behind the three dots next to Betale.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DNB nettbank: Dagligbank og lån → Betale og overføre → Faste oppdrag. Fill in, then Bekreft.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one-off gifts, or for anyone who can’t set up a fixed payment. Vipps 552790; website eotc-stavanger.no/a → “ይለግሱ” → PayPal. Remind them that the monthly dues are best as a fast betaling.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people to stay after the liturgy with their phones. Mention the guide images will be shared in the Telegram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7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E3A2B"/>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407120"/>
            <a:ext cx="10566400" cy="4638080"/>
          </a:xfrm>
          <a:prstGeom prst="rect">
            <a:avLst/>
          </a:prstGeom>
          <a:noFill/>
          <a:ln/>
        </p:spPr>
        <p:txBody>
          <a:bodyPr wrap="square" lIns="0" tIns="0" rIns="0" bIns="0" rtlCol="0" anchor="t"/>
          <a:lstStyle>
            <a:lvl1pPr algn="l" indent="0" marL="0">
              <a:lnSpc>
                <a:spcPct val="140000"/>
              </a:lnSpc>
              <a:buNone/>
              <a:defRPr lang="en-US" sz="1600" dirty="0">
                <a:solidFill>
                  <a:srgbClr val="1E3A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7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71120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E3A2B"/>
                </a:solidFill>
                <a:latin typeface="DM Sans" pitchFamily="34" charset="0"/>
                <a:ea typeface="DM Sans" pitchFamily="34" charset="-122"/>
                <a:cs typeface="DM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407120"/>
            <a:ext cx="10566400" cy="4638080"/>
          </a:xfrm>
          <a:prstGeom prst="rect">
            <a:avLst/>
          </a:prstGeom>
          <a:noFill/>
          <a:ln/>
        </p:spPr>
        <p:txBody>
          <a:bodyPr wrap="square" lIns="0" tIns="0" rIns="0" bIns="0" rtlCol="0" anchor="t"/>
          <a:lstStyle>
            <a:lvl1pPr algn="l" indent="0" marL="0">
              <a:lnSpc>
                <a:spcPct val="140000"/>
              </a:lnSpc>
              <a:buNone/>
              <a:defRPr lang="en-US" sz="1600" dirty="0">
                <a:solidFill>
                  <a:srgbClr val="1E3A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webp"/><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webp"/><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jpe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webp"/><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jpe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2B"/>
        </a:solidFill>
      </p:bgPr>
    </p:bg>
    <p:spTree>
      <p:nvGrpSpPr>
        <p:cNvPr id="1" name=""/>
        <p:cNvGrpSpPr/>
        <p:nvPr/>
      </p:nvGrpSpPr>
      <p:grpSpPr>
        <a:xfrm>
          <a:off x="0" y="0"/>
          <a:ext cx="0" cy="0"/>
          <a:chOff x="0" y="0"/>
          <a:chExt cx="0" cy="0"/>
        </a:xfrm>
      </p:grpSpPr>
      <p:sp>
        <p:nvSpPr>
          <p:cNvPr id="2" name="Text 0"/>
          <p:cNvSpPr/>
          <p:nvPr/>
        </p:nvSpPr>
        <p:spPr>
          <a:xfrm>
            <a:off x="812800" y="222885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2B65A"/>
                </a:solidFill>
                <a:latin typeface="DM Sans" pitchFamily="34" charset="0"/>
                <a:ea typeface="DM Sans" pitchFamily="34" charset="-122"/>
                <a:cs typeface="DM Sans" pitchFamily="34" charset="-120"/>
              </a:rPr>
              <a:t>FAST BETALING · MEDLEMSKONTINGENT</a:t>
            </a:r>
            <a:endParaRPr lang="en-US" sz="1400" dirty="0"/>
          </a:p>
        </p:txBody>
      </p:sp>
      <p:sp>
        <p:nvSpPr>
          <p:cNvPr id="3" name="Text 1"/>
          <p:cNvSpPr/>
          <p:nvPr>
            <p:ph type="title"/>
          </p:nvPr>
        </p:nvSpPr>
        <p:spPr>
          <a:xfrm>
            <a:off x="812800" y="2731740"/>
            <a:ext cx="10883392" cy="817860"/>
          </a:xfrm>
          <a:prstGeom prst="rect">
            <a:avLst/>
          </a:prstGeom>
          <a:noFill/>
          <a:ln/>
        </p:spPr>
        <p:txBody>
          <a:bodyPr wrap="square" lIns="0" tIns="0" rIns="0" bIns="0" rtlCol="0" anchor="t">
            <a:normAutofit/>
          </a:bodyPr>
          <a:lstStyle/>
          <a:p>
            <a:pPr algn="l" indent="0" marL="0">
              <a:lnSpc>
                <a:spcPts val="6240"/>
              </a:lnSpc>
              <a:buNone/>
            </a:pPr>
            <a:r>
              <a:rPr lang="en-US" sz="5200" b="1" i="0" dirty="0">
                <a:solidFill>
                  <a:srgbClr val="FAF7F0"/>
                </a:solidFill>
                <a:latin typeface="Noto Sans Ethiopic" pitchFamily="34" charset="0"/>
                <a:ea typeface="Noto Sans Ethiopic" pitchFamily="34" charset="-122"/>
                <a:cs typeface="Noto Sans Ethiopic" pitchFamily="34" charset="-120"/>
              </a:rPr>
              <a:t>የወር መዋጮ በቋሚነት ለመክፈል</a:t>
            </a:r>
            <a:endParaRPr lang="en-US" sz="5200" dirty="0"/>
          </a:p>
        </p:txBody>
      </p:sp>
      <p:pic>
        <p:nvPicPr>
          <p:cNvPr id="4" name="Image 0" descr="line">    </p:cNvPr>
          <p:cNvPicPr>
            <a:picLocks noChangeAspect="1"/>
          </p:cNvPicPr>
          <p:nvPr/>
        </p:nvPicPr>
        <p:blipFill>
          <a:blip r:embed="rId1"/>
          <a:srcRect l="0" r="0" t="0" b="0"/>
          <a:stretch/>
        </p:blipFill>
        <p:spPr>
          <a:xfrm>
            <a:off x="812800" y="3778200"/>
            <a:ext cx="1016000" cy="38100"/>
          </a:xfrm>
          <a:prstGeom prst="rect">
            <a:avLst/>
          </a:prstGeom>
        </p:spPr>
      </p:pic>
      <p:sp>
        <p:nvSpPr>
          <p:cNvPr id="5" name="Text 2"/>
          <p:cNvSpPr/>
          <p:nvPr/>
        </p:nvSpPr>
        <p:spPr>
          <a:xfrm>
            <a:off x="812800" y="4070300"/>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5E2D9"/>
                </a:solidFill>
                <a:latin typeface="DM Sans" pitchFamily="34" charset="0"/>
                <a:ea typeface="DM Sans" pitchFamily="34" charset="-122"/>
                <a:cs typeface="DM Sans" pitchFamily="34" charset="-120"/>
              </a:rPr>
              <a:t>በኔትባንክ ወይም በሞባይል ባንክ አንድ ጊዜ ብቻ ያዘጋጁት፤ ከዚያ በየወሩ ራሱ ይከፈላል።</a:t>
            </a:r>
            <a:endParaRPr lang="en-US" sz="2000" dirty="0"/>
          </a:p>
        </p:txBody>
      </p:sp>
      <p:sp>
        <p:nvSpPr>
          <p:cNvPr id="6"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3"/>
                </a:solidFill>
                <a:latin typeface="DM Sans" pitchFamily="34" charset="0"/>
                <a:ea typeface="DM Sans" pitchFamily="34" charset="-122"/>
                <a:cs typeface="DM Sans" pitchFamily="34" charset="-120"/>
              </a:rPr>
              <a:t>SpareBank 1 SR-Bank · Rogaland Sparebank · Nordea · Sparebanken Norge · DNB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E3A2B"/>
                </a:solidFill>
                <a:latin typeface="Noto Sans Ethiopic" pitchFamily="34" charset="0"/>
                <a:ea typeface="Noto Sans Ethiopic" pitchFamily="34" charset="-122"/>
                <a:cs typeface="Noto Sans Ethiopic" pitchFamily="34" charset="-120"/>
              </a:rPr>
              <a:t>ለምን በየወሩ በቋሚነት?</a:t>
            </a:r>
            <a:endParaRPr lang="en-US" sz="3200" dirty="0"/>
          </a:p>
        </p:txBody>
      </p:sp>
      <p:sp>
        <p:nvSpPr>
          <p:cNvPr id="3" name="Shape 1"/>
          <p:cNvSpPr/>
          <p:nvPr/>
        </p:nvSpPr>
        <p:spPr>
          <a:xfrm>
            <a:off x="815975" y="1608435"/>
            <a:ext cx="5175250" cy="2112020"/>
          </a:xfrm>
          <a:prstGeom prst="roundRect">
            <a:avLst>
              <a:gd name="adj" fmla="val 5863"/>
            </a:avLst>
          </a:prstGeom>
          <a:solidFill>
            <a:srgbClr val="FFFDF8"/>
          </a:solidFill>
          <a:ln w="6350">
            <a:solidFill>
              <a:srgbClr val="E3DCCB"/>
            </a:solidFill>
            <a:prstDash val="solid"/>
          </a:ln>
        </p:spPr>
      </p:sp>
      <p:sp>
        <p:nvSpPr>
          <p:cNvPr id="4" name="Text 2"/>
          <p:cNvSpPr/>
          <p:nvPr/>
        </p:nvSpPr>
        <p:spPr>
          <a:xfrm>
            <a:off x="1123950" y="1916410"/>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3A2B"/>
                </a:solidFill>
                <a:latin typeface="DM Sans" pitchFamily="34" charset="0"/>
                <a:ea typeface="DM Sans" pitchFamily="34" charset="-122"/>
                <a:cs typeface="DM Sans" pitchFamily="34" charset="-120"/>
              </a:rPr>
              <a:t>አንድ ጊዜ ብቻ</a:t>
            </a:r>
            <a:endParaRPr lang="en-US" sz="2200" dirty="0"/>
          </a:p>
        </p:txBody>
      </p:sp>
      <p:sp>
        <p:nvSpPr>
          <p:cNvPr id="5" name="Text 3"/>
          <p:cNvSpPr/>
          <p:nvPr/>
        </p:nvSpPr>
        <p:spPr>
          <a:xfrm>
            <a:off x="1123950" y="2353270"/>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A42"/>
                </a:solidFill>
                <a:latin typeface="DM Sans" pitchFamily="34" charset="0"/>
                <a:ea typeface="DM Sans" pitchFamily="34" charset="-122"/>
                <a:cs typeface="DM Sans" pitchFamily="34" charset="-120"/>
              </a:rPr>
              <a:t>አንድ ጊዜ ያዘጋጁት፤ ከዚያ በኋላ መዋጮዎ በየወሩ ራሱ ይከፈላል።</a:t>
            </a:r>
            <a:endParaRPr lang="en-US" sz="1600" dirty="0"/>
          </a:p>
        </p:txBody>
      </p:sp>
      <p:sp>
        <p:nvSpPr>
          <p:cNvPr id="6" name="Shape 4"/>
          <p:cNvSpPr/>
          <p:nvPr/>
        </p:nvSpPr>
        <p:spPr>
          <a:xfrm>
            <a:off x="6200775" y="1608435"/>
            <a:ext cx="5175250" cy="2112020"/>
          </a:xfrm>
          <a:prstGeom prst="roundRect">
            <a:avLst>
              <a:gd name="adj" fmla="val 5863"/>
            </a:avLst>
          </a:prstGeom>
          <a:solidFill>
            <a:srgbClr val="FFFDF8"/>
          </a:solidFill>
          <a:ln w="6350">
            <a:solidFill>
              <a:srgbClr val="E3DCCB"/>
            </a:solidFill>
            <a:prstDash val="solid"/>
          </a:ln>
        </p:spPr>
      </p:sp>
      <p:sp>
        <p:nvSpPr>
          <p:cNvPr id="7" name="Text 5"/>
          <p:cNvSpPr/>
          <p:nvPr/>
        </p:nvSpPr>
        <p:spPr>
          <a:xfrm>
            <a:off x="6508750" y="1916410"/>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3A2B"/>
                </a:solidFill>
                <a:latin typeface="DM Sans" pitchFamily="34" charset="0"/>
                <a:ea typeface="DM Sans" pitchFamily="34" charset="-122"/>
                <a:cs typeface="DM Sans" pitchFamily="34" charset="-120"/>
              </a:rPr>
              <a:t>መርሳት አይኖርም</a:t>
            </a:r>
            <a:endParaRPr lang="en-US" sz="2200" dirty="0"/>
          </a:p>
        </p:txBody>
      </p:sp>
      <p:sp>
        <p:nvSpPr>
          <p:cNvPr id="8" name="Text 6"/>
          <p:cNvSpPr/>
          <p:nvPr/>
        </p:nvSpPr>
        <p:spPr>
          <a:xfrm>
            <a:off x="6508750" y="2353270"/>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A42"/>
                </a:solidFill>
                <a:latin typeface="DM Sans" pitchFamily="34" charset="0"/>
                <a:ea typeface="DM Sans" pitchFamily="34" charset="-122"/>
                <a:cs typeface="DM Sans" pitchFamily="34" charset="-120"/>
              </a:rPr>
              <a:t>በየወሩ ማስታወስ ወይም መልእክት መጠበቅ አያስፈልግም።</a:t>
            </a:r>
            <a:endParaRPr lang="en-US" sz="1600" dirty="0"/>
          </a:p>
        </p:txBody>
      </p:sp>
      <p:sp>
        <p:nvSpPr>
          <p:cNvPr id="9" name="Shape 7"/>
          <p:cNvSpPr/>
          <p:nvPr/>
        </p:nvSpPr>
        <p:spPr>
          <a:xfrm>
            <a:off x="815975" y="3930005"/>
            <a:ext cx="5175250" cy="2112020"/>
          </a:xfrm>
          <a:prstGeom prst="roundRect">
            <a:avLst>
              <a:gd name="adj" fmla="val 5863"/>
            </a:avLst>
          </a:prstGeom>
          <a:solidFill>
            <a:srgbClr val="FFFDF8"/>
          </a:solidFill>
          <a:ln w="6350">
            <a:solidFill>
              <a:srgbClr val="E3DCCB"/>
            </a:solidFill>
            <a:prstDash val="solid"/>
          </a:ln>
        </p:spPr>
      </p:sp>
      <p:sp>
        <p:nvSpPr>
          <p:cNvPr id="10" name="Text 8"/>
          <p:cNvSpPr/>
          <p:nvPr/>
        </p:nvSpPr>
        <p:spPr>
          <a:xfrm>
            <a:off x="1123950" y="4237980"/>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3A2B"/>
                </a:solidFill>
                <a:latin typeface="DM Sans" pitchFamily="34" charset="0"/>
                <a:ea typeface="DM Sans" pitchFamily="34" charset="-122"/>
                <a:cs typeface="DM Sans" pitchFamily="34" charset="-120"/>
              </a:rPr>
              <a:t>ቤተ ክርስቲያንን ያግዛል</a:t>
            </a:r>
            <a:endParaRPr lang="en-US" sz="2200" dirty="0"/>
          </a:p>
        </p:txBody>
      </p:sp>
      <p:sp>
        <p:nvSpPr>
          <p:cNvPr id="11" name="Text 9"/>
          <p:cNvSpPr/>
          <p:nvPr/>
        </p:nvSpPr>
        <p:spPr>
          <a:xfrm>
            <a:off x="1123950" y="4674840"/>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A42"/>
                </a:solidFill>
                <a:latin typeface="DM Sans" pitchFamily="34" charset="0"/>
                <a:ea typeface="DM Sans" pitchFamily="34" charset="-122"/>
                <a:cs typeface="DM Sans" pitchFamily="34" charset="-120"/>
              </a:rPr>
              <a:t>ለአገልግሎት እና ለተለያዩ አስተዳደራዊ ወጪዎች ክፍያ</a:t>
            </a:r>
            <a:endParaRPr lang="en-US" sz="1600" dirty="0"/>
          </a:p>
        </p:txBody>
      </p:sp>
      <p:sp>
        <p:nvSpPr>
          <p:cNvPr id="12" name="Shape 10"/>
          <p:cNvSpPr/>
          <p:nvPr/>
        </p:nvSpPr>
        <p:spPr>
          <a:xfrm>
            <a:off x="6200775" y="3930005"/>
            <a:ext cx="5175250" cy="2112020"/>
          </a:xfrm>
          <a:prstGeom prst="roundRect">
            <a:avLst>
              <a:gd name="adj" fmla="val 5863"/>
            </a:avLst>
          </a:prstGeom>
          <a:solidFill>
            <a:srgbClr val="FFFDF8"/>
          </a:solidFill>
          <a:ln w="6350">
            <a:solidFill>
              <a:srgbClr val="E3DCCB"/>
            </a:solidFill>
            <a:prstDash val="solid"/>
          </a:ln>
        </p:spPr>
      </p:sp>
      <p:sp>
        <p:nvSpPr>
          <p:cNvPr id="13" name="Text 11"/>
          <p:cNvSpPr/>
          <p:nvPr/>
        </p:nvSpPr>
        <p:spPr>
          <a:xfrm>
            <a:off x="6508750" y="4237980"/>
            <a:ext cx="46960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E3A2B"/>
                </a:solidFill>
                <a:latin typeface="DM Sans" pitchFamily="34" charset="0"/>
                <a:ea typeface="DM Sans" pitchFamily="34" charset="-122"/>
                <a:cs typeface="DM Sans" pitchFamily="34" charset="-120"/>
              </a:rPr>
              <a:t>እርስዎ ይቆጣጠራሉ</a:t>
            </a:r>
            <a:endParaRPr lang="en-US" sz="2200" dirty="0"/>
          </a:p>
        </p:txBody>
      </p:sp>
      <p:sp>
        <p:nvSpPr>
          <p:cNvPr id="14" name="Text 12"/>
          <p:cNvSpPr/>
          <p:nvPr/>
        </p:nvSpPr>
        <p:spPr>
          <a:xfrm>
            <a:off x="6508750" y="4674840"/>
            <a:ext cx="4696079"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B4A42"/>
                </a:solidFill>
                <a:latin typeface="DM Sans" pitchFamily="34" charset="0"/>
                <a:ea typeface="DM Sans" pitchFamily="34" charset="-122"/>
                <a:cs typeface="DM Sans" pitchFamily="34" charset="-120"/>
              </a:rPr>
              <a:t>በማንኛውም ጊዜ በባንክዎ ማቆም ወይም መጠኑን መቀየር ይችላሉ።</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E3A2B"/>
                </a:solidFill>
                <a:latin typeface="Noto Sans Ethiopic" pitchFamily="34" charset="0"/>
                <a:ea typeface="Noto Sans Ethiopic" pitchFamily="34" charset="-122"/>
                <a:cs typeface="Noto Sans Ethiopic" pitchFamily="34" charset="-120"/>
              </a:rPr>
              <a:t>በሁሉም ባንክ የሚያስገቡት መረጃ</a:t>
            </a:r>
            <a:endParaRPr lang="en-US" sz="3200" dirty="0"/>
          </a:p>
        </p:txBody>
      </p:sp>
      <p:sp>
        <p:nvSpPr>
          <p:cNvPr id="3" name="Shape 1"/>
          <p:cNvSpPr/>
          <p:nvPr/>
        </p:nvSpPr>
        <p:spPr>
          <a:xfrm>
            <a:off x="815975" y="1506835"/>
            <a:ext cx="10560050" cy="3176191"/>
          </a:xfrm>
          <a:prstGeom prst="roundRect">
            <a:avLst>
              <a:gd name="adj" fmla="val 3899"/>
            </a:avLst>
          </a:prstGeom>
          <a:solidFill>
            <a:srgbClr val="FFFDF8"/>
          </a:solidFill>
          <a:ln w="6350">
            <a:solidFill>
              <a:srgbClr val="E3DCCB"/>
            </a:solidFill>
            <a:prstDash val="solid"/>
          </a:ln>
        </p:spPr>
      </p:sp>
      <p:sp>
        <p:nvSpPr>
          <p:cNvPr id="4" name="Shape 2"/>
          <p:cNvSpPr/>
          <p:nvPr/>
        </p:nvSpPr>
        <p:spPr>
          <a:xfrm>
            <a:off x="1123950" y="2259905"/>
            <a:ext cx="9944100" cy="0"/>
          </a:xfrm>
          <a:prstGeom prst="line">
            <a:avLst/>
          </a:prstGeom>
          <a:noFill/>
          <a:ln w="6350">
            <a:solidFill>
              <a:srgbClr val="E3DCCB"/>
            </a:solidFill>
            <a:prstDash val="solid"/>
          </a:ln>
        </p:spPr>
      </p:sp>
      <p:sp>
        <p:nvSpPr>
          <p:cNvPr id="5" name="Text 3"/>
          <p:cNvSpPr/>
          <p:nvPr/>
        </p:nvSpPr>
        <p:spPr>
          <a:xfrm>
            <a:off x="1123950" y="1791940"/>
            <a:ext cx="34010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B62"/>
                </a:solidFill>
                <a:latin typeface="DM Sans" pitchFamily="34" charset="0"/>
                <a:ea typeface="DM Sans" pitchFamily="34" charset="-122"/>
                <a:cs typeface="DM Sans" pitchFamily="34" charset="-120"/>
              </a:rPr>
              <a:t>የሂሳብ ቁጥር (Til konto)</a:t>
            </a:r>
            <a:endParaRPr lang="en-US" sz="1600" dirty="0"/>
          </a:p>
        </p:txBody>
      </p:sp>
      <p:sp>
        <p:nvSpPr>
          <p:cNvPr id="6" name="Text 4"/>
          <p:cNvSpPr/>
          <p:nvPr/>
        </p:nvSpPr>
        <p:spPr>
          <a:xfrm>
            <a:off x="4629150" y="1738610"/>
            <a:ext cx="228933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E3A2B"/>
                </a:solidFill>
                <a:latin typeface="DM Sans" pitchFamily="34" charset="0"/>
                <a:ea typeface="DM Sans" pitchFamily="34" charset="-122"/>
                <a:cs typeface="DM Sans" pitchFamily="34" charset="-120"/>
              </a:rPr>
              <a:t>3201 10 52249</a:t>
            </a:r>
            <a:endParaRPr lang="en-US" sz="2200" dirty="0"/>
          </a:p>
        </p:txBody>
      </p:sp>
      <p:sp>
        <p:nvSpPr>
          <p:cNvPr id="7" name="Shape 5"/>
          <p:cNvSpPr/>
          <p:nvPr/>
        </p:nvSpPr>
        <p:spPr>
          <a:xfrm>
            <a:off x="1123950" y="2840286"/>
            <a:ext cx="9944100" cy="0"/>
          </a:xfrm>
          <a:prstGeom prst="line">
            <a:avLst/>
          </a:prstGeom>
          <a:noFill/>
          <a:ln w="6350">
            <a:solidFill>
              <a:srgbClr val="E3DCCB"/>
            </a:solidFill>
            <a:prstDash val="solid"/>
          </a:ln>
        </p:spPr>
      </p:sp>
      <p:sp>
        <p:nvSpPr>
          <p:cNvPr id="8" name="Text 6"/>
          <p:cNvSpPr/>
          <p:nvPr/>
        </p:nvSpPr>
        <p:spPr>
          <a:xfrm>
            <a:off x="1123950" y="2407841"/>
            <a:ext cx="34010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B62"/>
                </a:solidFill>
                <a:latin typeface="DM Sans" pitchFamily="34" charset="0"/>
                <a:ea typeface="DM Sans" pitchFamily="34" charset="-122"/>
                <a:cs typeface="DM Sans" pitchFamily="34" charset="-120"/>
              </a:rPr>
              <a:t>ተቀባይ</a:t>
            </a:r>
            <a:endParaRPr lang="en-US" sz="1600" dirty="0"/>
          </a:p>
        </p:txBody>
      </p:sp>
      <p:sp>
        <p:nvSpPr>
          <p:cNvPr id="9" name="Text 7"/>
          <p:cNvSpPr/>
          <p:nvPr/>
        </p:nvSpPr>
        <p:spPr>
          <a:xfrm>
            <a:off x="4629150" y="2390080"/>
            <a:ext cx="4349413"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24"/>
                </a:solidFill>
                <a:latin typeface="DM Sans" pitchFamily="34" charset="0"/>
                <a:ea typeface="DM Sans" pitchFamily="34" charset="-122"/>
                <a:cs typeface="DM Sans" pitchFamily="34" charset="-120"/>
              </a:rPr>
              <a:t>Den Etiopisk Ortodoks Tewahedo</a:t>
            </a:r>
            <a:endParaRPr lang="en-US" sz="1800" dirty="0"/>
          </a:p>
        </p:txBody>
      </p:sp>
      <p:sp>
        <p:nvSpPr>
          <p:cNvPr id="10" name="Shape 8"/>
          <p:cNvSpPr/>
          <p:nvPr/>
        </p:nvSpPr>
        <p:spPr>
          <a:xfrm>
            <a:off x="1123950" y="3420666"/>
            <a:ext cx="9944100" cy="0"/>
          </a:xfrm>
          <a:prstGeom prst="line">
            <a:avLst/>
          </a:prstGeom>
          <a:noFill/>
          <a:ln w="6350">
            <a:solidFill>
              <a:srgbClr val="E3DCCB"/>
            </a:solidFill>
            <a:prstDash val="solid"/>
          </a:ln>
        </p:spPr>
      </p:sp>
      <p:sp>
        <p:nvSpPr>
          <p:cNvPr id="11" name="Text 9"/>
          <p:cNvSpPr/>
          <p:nvPr/>
        </p:nvSpPr>
        <p:spPr>
          <a:xfrm>
            <a:off x="1123950" y="2988221"/>
            <a:ext cx="34010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B62"/>
                </a:solidFill>
                <a:latin typeface="DM Sans" pitchFamily="34" charset="0"/>
                <a:ea typeface="DM Sans" pitchFamily="34" charset="-122"/>
                <a:cs typeface="DM Sans" pitchFamily="34" charset="-120"/>
              </a:rPr>
              <a:t>መጠን (Beløp)</a:t>
            </a:r>
            <a:endParaRPr lang="en-US" sz="1600" dirty="0"/>
          </a:p>
        </p:txBody>
      </p:sp>
      <p:sp>
        <p:nvSpPr>
          <p:cNvPr id="12" name="Text 10"/>
          <p:cNvSpPr/>
          <p:nvPr/>
        </p:nvSpPr>
        <p:spPr>
          <a:xfrm>
            <a:off x="4629150" y="2970461"/>
            <a:ext cx="88124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24"/>
                </a:solidFill>
                <a:latin typeface="DM Sans" pitchFamily="34" charset="0"/>
                <a:ea typeface="DM Sans" pitchFamily="34" charset="-122"/>
                <a:cs typeface="DM Sans" pitchFamily="34" charset="-120"/>
              </a:rPr>
              <a:t>500 kr</a:t>
            </a:r>
            <a:endParaRPr lang="en-US" sz="1800" dirty="0"/>
          </a:p>
        </p:txBody>
      </p:sp>
      <p:sp>
        <p:nvSpPr>
          <p:cNvPr id="13" name="Shape 11"/>
          <p:cNvSpPr/>
          <p:nvPr/>
        </p:nvSpPr>
        <p:spPr>
          <a:xfrm>
            <a:off x="1123950" y="4001046"/>
            <a:ext cx="9944100" cy="0"/>
          </a:xfrm>
          <a:prstGeom prst="line">
            <a:avLst/>
          </a:prstGeom>
          <a:noFill/>
          <a:ln w="6350">
            <a:solidFill>
              <a:srgbClr val="E3DCCB"/>
            </a:solidFill>
            <a:prstDash val="solid"/>
          </a:ln>
        </p:spPr>
      </p:sp>
      <p:sp>
        <p:nvSpPr>
          <p:cNvPr id="14" name="Text 12"/>
          <p:cNvSpPr/>
          <p:nvPr/>
        </p:nvSpPr>
        <p:spPr>
          <a:xfrm>
            <a:off x="1123950" y="3568601"/>
            <a:ext cx="34010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B62"/>
                </a:solidFill>
                <a:latin typeface="DM Sans" pitchFamily="34" charset="0"/>
                <a:ea typeface="DM Sans" pitchFamily="34" charset="-122"/>
                <a:cs typeface="DM Sans" pitchFamily="34" charset="-120"/>
              </a:rPr>
              <a:t>ድግግሞሽ</a:t>
            </a:r>
            <a:endParaRPr lang="en-US" sz="1600" dirty="0"/>
          </a:p>
        </p:txBody>
      </p:sp>
      <p:sp>
        <p:nvSpPr>
          <p:cNvPr id="15" name="Text 13"/>
          <p:cNvSpPr/>
          <p:nvPr/>
        </p:nvSpPr>
        <p:spPr>
          <a:xfrm>
            <a:off x="4629150" y="3550841"/>
            <a:ext cx="2345591"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24"/>
                </a:solidFill>
                <a:latin typeface="DM Sans" pitchFamily="34" charset="0"/>
                <a:ea typeface="DM Sans" pitchFamily="34" charset="-122"/>
                <a:cs typeface="DM Sans" pitchFamily="34" charset="-120"/>
              </a:rPr>
              <a:t>Månedlig (በየወሩ)</a:t>
            </a:r>
            <a:endParaRPr lang="en-US" sz="1800" dirty="0"/>
          </a:p>
        </p:txBody>
      </p:sp>
      <p:sp>
        <p:nvSpPr>
          <p:cNvPr id="16" name="Text 14"/>
          <p:cNvSpPr/>
          <p:nvPr/>
        </p:nvSpPr>
        <p:spPr>
          <a:xfrm>
            <a:off x="1123950" y="4148981"/>
            <a:ext cx="340106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B6B62"/>
                </a:solidFill>
                <a:latin typeface="DM Sans" pitchFamily="34" charset="0"/>
                <a:ea typeface="DM Sans" pitchFamily="34" charset="-122"/>
                <a:cs typeface="DM Sans" pitchFamily="34" charset="-120"/>
              </a:rPr>
              <a:t>መልእክት (Melding / KID)</a:t>
            </a:r>
            <a:endParaRPr lang="en-US" sz="1600" dirty="0"/>
          </a:p>
        </p:txBody>
      </p:sp>
      <p:sp>
        <p:nvSpPr>
          <p:cNvPr id="17" name="Text 15"/>
          <p:cNvSpPr/>
          <p:nvPr/>
        </p:nvSpPr>
        <p:spPr>
          <a:xfrm>
            <a:off x="4629150" y="4131221"/>
            <a:ext cx="4440615"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F2A24"/>
                </a:solidFill>
                <a:latin typeface="DM Sans" pitchFamily="34" charset="0"/>
                <a:ea typeface="DM Sans" pitchFamily="34" charset="-122"/>
                <a:cs typeface="DM Sans" pitchFamily="34" charset="-120"/>
              </a:rPr>
              <a:t>Medlemskontingent – ሙሉ ስምዎ</a:t>
            </a:r>
            <a:endParaRPr lang="en-US" sz="1800" dirty="0"/>
          </a:p>
        </p:txBody>
      </p:sp>
      <p:sp>
        <p:nvSpPr>
          <p:cNvPr id="18" name="Text 16"/>
          <p:cNvSpPr/>
          <p:nvPr/>
        </p:nvSpPr>
        <p:spPr>
          <a:xfrm>
            <a:off x="812800" y="4991001"/>
            <a:ext cx="10566400" cy="589260"/>
          </a:xfrm>
          <a:prstGeom prst="roundRect">
            <a:avLst>
              <a:gd name="adj" fmla="val 17242"/>
            </a:avLst>
          </a:prstGeom>
          <a:solidFill>
            <a:srgbClr val="F7E7D6"/>
          </a:solidFill>
          <a:ln/>
        </p:spPr>
        <p:txBody>
          <a:bodyPr wrap="square" lIns="173442" tIns="122642" rIns="0" bIns="97242" rtlCol="0" anchor="t">
            <a:normAutofit/>
          </a:bodyPr>
          <a:lstStyle/>
          <a:p>
            <a:pPr algn="l" indent="0" marL="0">
              <a:lnSpc>
                <a:spcPts val="2240"/>
              </a:lnSpc>
              <a:buNone/>
            </a:pPr>
            <a:r>
              <a:rPr lang="en-US" sz="1600" b="1" dirty="0">
                <a:solidFill>
                  <a:srgbClr val="8A3B12"/>
                </a:solidFill>
                <a:latin typeface="DM Sans" pitchFamily="34" charset="0"/>
                <a:ea typeface="DM Sans" pitchFamily="34" charset="-122"/>
                <a:cs typeface="DM Sans" pitchFamily="34" charset="-120"/>
              </a:rPr>
              <a:t>ስምዎን መጻፍ አይርሱ፤ ያለ ስም ክፍያው የማን እንደሆነ ማወቅ አይቻልም።</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3A2B"/>
                </a:solidFill>
                <a:latin typeface="DM Sans" pitchFamily="34" charset="0"/>
                <a:ea typeface="DM Sans" pitchFamily="34" charset="-122"/>
                <a:cs typeface="DM Sans" pitchFamily="34" charset="-120"/>
              </a:rPr>
              <a:t>SpareBank 1 Sør-Norge (SR-Bank) · app</a:t>
            </a:r>
            <a:endParaRPr lang="en-US" sz="2800" dirty="0"/>
          </a:p>
        </p:txBody>
      </p:sp>
      <p:sp>
        <p:nvSpPr>
          <p:cNvPr id="3" name="Text 1"/>
          <p:cNvSpPr/>
          <p:nvPr/>
        </p:nvSpPr>
        <p:spPr>
          <a:xfrm>
            <a:off x="812800" y="13055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1</a:t>
            </a:r>
            <a:endParaRPr lang="en-US" sz="1400" dirty="0"/>
          </a:p>
        </p:txBody>
      </p:sp>
      <p:sp>
        <p:nvSpPr>
          <p:cNvPr id="4" name="Text 2"/>
          <p:cNvSpPr/>
          <p:nvPr/>
        </p:nvSpPr>
        <p:spPr>
          <a:xfrm>
            <a:off x="1270000" y="1305520"/>
            <a:ext cx="2943225"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ከታች </a:t>
            </a:r>
            <a:r>
              <a:rPr lang="en-US" sz="1600" b="1" dirty="0">
                <a:solidFill>
                  <a:srgbClr val="1F2A24"/>
                </a:solidFill>
                <a:latin typeface="DM Sans" pitchFamily="34" charset="0"/>
                <a:ea typeface="DM Sans" pitchFamily="34" charset="-122"/>
                <a:cs typeface="DM Sans" pitchFamily="34" charset="-120"/>
              </a:rPr>
              <a:t>Mer</a:t>
            </a:r>
            <a:r>
              <a:rPr lang="en-US" sz="1600" dirty="0">
                <a:solidFill>
                  <a:srgbClr val="1F2A24"/>
                </a:solidFill>
                <a:latin typeface="DM Sans" pitchFamily="34" charset="0"/>
                <a:ea typeface="DM Sans" pitchFamily="34" charset="-122"/>
                <a:cs typeface="DM Sans" pitchFamily="34" charset="-120"/>
              </a:rPr>
              <a:t> ይጫኑ።</a:t>
            </a:r>
            <a:endParaRPr lang="en-US" sz="1600" dirty="0"/>
          </a:p>
        </p:txBody>
      </p:sp>
      <p:pic>
        <p:nvPicPr>
          <p:cNvPr id="5" name="Image 0" descr="Mer i menylinjen">    </p:cNvPr>
          <p:cNvPicPr>
            <a:picLocks noChangeAspect="1"/>
          </p:cNvPicPr>
          <p:nvPr/>
        </p:nvPicPr>
        <p:blipFill>
          <a:blip r:embed="rId1"/>
          <a:stretch>
            <a:fillRect/>
          </a:stretch>
        </p:blipFill>
        <p:spPr>
          <a:xfrm>
            <a:off x="1306195" y="1626791"/>
            <a:ext cx="2785110" cy="539750"/>
          </a:xfrm>
          <a:custGeom>
            <a:avLst/>
            <a:gdLst/>
            <a:ahLst/>
            <a:cxnLst/>
            <a:rect l="l" t="t" r="r" b="b"/>
            <a:pathLst>
              <a:path w="2785110" h="539750">
                <a:moveTo>
                  <a:pt x="0" y="12591"/>
                </a:moveTo>
                <a:arcTo wR="69850" hR="69850" stAng="14103562" swAng="2096438"/>
                <a:lnTo>
                  <a:pt x="2745105" y="0"/>
                </a:lnTo>
                <a:arcTo wR="69850" hR="69850" stAng="16200000" swAng="2096438"/>
                <a:lnTo>
                  <a:pt x="2785110" y="527159"/>
                </a:lnTo>
                <a:arcTo wR="69850" hR="69850" stAng="3303562" swAng="2096438"/>
                <a:lnTo>
                  <a:pt x="40005" y="539750"/>
                </a:lnTo>
                <a:arcTo wR="69850" hR="69850" stAng="5400000" swAng="2096438"/>
                <a:close/>
              </a:path>
            </a:pathLst>
          </a:custGeom>
        </p:spPr>
      </p:pic>
      <p:sp>
        <p:nvSpPr>
          <p:cNvPr id="6" name="Shape 3"/>
          <p:cNvSpPr/>
          <p:nvPr/>
        </p:nvSpPr>
        <p:spPr>
          <a:xfrm>
            <a:off x="1273175" y="1623616"/>
            <a:ext cx="2851150" cy="546100"/>
          </a:xfrm>
          <a:prstGeom prst="roundRect">
            <a:avLst>
              <a:gd name="adj" fmla="val 13372"/>
            </a:avLst>
          </a:prstGeom>
          <a:noFill/>
          <a:ln w="6350">
            <a:solidFill>
              <a:srgbClr val="E3DCCB"/>
            </a:solidFill>
            <a:prstDash val="solid"/>
          </a:ln>
        </p:spPr>
      </p:sp>
      <p:sp>
        <p:nvSpPr>
          <p:cNvPr id="7" name="Text 4"/>
          <p:cNvSpPr/>
          <p:nvPr/>
        </p:nvSpPr>
        <p:spPr>
          <a:xfrm>
            <a:off x="812800" y="229488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2</a:t>
            </a:r>
            <a:endParaRPr lang="en-US" sz="1400" dirty="0"/>
          </a:p>
        </p:txBody>
      </p:sp>
      <p:sp>
        <p:nvSpPr>
          <p:cNvPr id="8" name="Text 5"/>
          <p:cNvSpPr/>
          <p:nvPr/>
        </p:nvSpPr>
        <p:spPr>
          <a:xfrm>
            <a:off x="1270000" y="2294880"/>
            <a:ext cx="294322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Betaling</a:t>
            </a:r>
            <a:r>
              <a:rPr lang="en-US" sz="1600" dirty="0">
                <a:solidFill>
                  <a:srgbClr val="1F2A24"/>
                </a:solidFill>
                <a:latin typeface="DM Sans" pitchFamily="34" charset="0"/>
                <a:ea typeface="DM Sans" pitchFamily="34" charset="-122"/>
                <a:cs typeface="DM Sans" pitchFamily="34" charset="-120"/>
              </a:rPr>
              <a:t> ይምረጡ።</a:t>
            </a:r>
            <a:endParaRPr lang="en-US" sz="1600" dirty="0"/>
          </a:p>
        </p:txBody>
      </p:sp>
      <p:pic>
        <p:nvPicPr>
          <p:cNvPr id="9" name="Image 1" descr="Betaling">    </p:cNvPr>
          <p:cNvPicPr>
            <a:picLocks noChangeAspect="1"/>
          </p:cNvPicPr>
          <p:nvPr/>
        </p:nvPicPr>
        <p:blipFill>
          <a:blip r:embed="rId2"/>
          <a:stretch>
            <a:fillRect/>
          </a:stretch>
        </p:blipFill>
        <p:spPr>
          <a:xfrm>
            <a:off x="1299369" y="2616150"/>
            <a:ext cx="2798763" cy="520700"/>
          </a:xfrm>
          <a:custGeom>
            <a:avLst/>
            <a:gdLst/>
            <a:ahLst/>
            <a:cxnLst/>
            <a:rect l="l" t="t" r="r" b="b"/>
            <a:pathLst>
              <a:path w="2798763" h="520700">
                <a:moveTo>
                  <a:pt x="0" y="18025"/>
                </a:moveTo>
                <a:arcTo wR="69850" hR="69850" stAng="13673871" swAng="2526129"/>
                <a:lnTo>
                  <a:pt x="2751931" y="0"/>
                </a:lnTo>
                <a:arcTo wR="69850" hR="69850" stAng="16200000" swAng="2526129"/>
                <a:lnTo>
                  <a:pt x="2798763" y="502675"/>
                </a:lnTo>
                <a:arcTo wR="69850" hR="69850" stAng="2873871" swAng="2526129"/>
                <a:lnTo>
                  <a:pt x="46831" y="520700"/>
                </a:lnTo>
                <a:arcTo wR="69850" hR="69850" stAng="5400000" swAng="2526129"/>
                <a:close/>
              </a:path>
            </a:pathLst>
          </a:custGeom>
        </p:spPr>
      </p:pic>
      <p:sp>
        <p:nvSpPr>
          <p:cNvPr id="10" name="Shape 6"/>
          <p:cNvSpPr/>
          <p:nvPr/>
        </p:nvSpPr>
        <p:spPr>
          <a:xfrm>
            <a:off x="1273175" y="2612975"/>
            <a:ext cx="2851150" cy="527050"/>
          </a:xfrm>
          <a:prstGeom prst="roundRect">
            <a:avLst>
              <a:gd name="adj" fmla="val 13855"/>
            </a:avLst>
          </a:prstGeom>
          <a:noFill/>
          <a:ln w="6350">
            <a:solidFill>
              <a:srgbClr val="E3DCCB"/>
            </a:solidFill>
            <a:prstDash val="solid"/>
          </a:ln>
        </p:spPr>
      </p:sp>
      <p:sp>
        <p:nvSpPr>
          <p:cNvPr id="11" name="Text 7"/>
          <p:cNvSpPr/>
          <p:nvPr/>
        </p:nvSpPr>
        <p:spPr>
          <a:xfrm>
            <a:off x="812800" y="326519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3</a:t>
            </a:r>
            <a:endParaRPr lang="en-US" sz="1400" dirty="0"/>
          </a:p>
        </p:txBody>
      </p:sp>
      <p:sp>
        <p:nvSpPr>
          <p:cNvPr id="12" name="Text 8"/>
          <p:cNvSpPr/>
          <p:nvPr/>
        </p:nvSpPr>
        <p:spPr>
          <a:xfrm>
            <a:off x="1270000" y="3265190"/>
            <a:ext cx="4506158"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Faste avtaler</a:t>
            </a:r>
            <a:r>
              <a:rPr lang="en-US" sz="1600" dirty="0">
                <a:solidFill>
                  <a:srgbClr val="1F2A24"/>
                </a:solidFill>
                <a:latin typeface="DM Sans" pitchFamily="34" charset="0"/>
                <a:ea typeface="DM Sans" pitchFamily="34" charset="-122"/>
                <a:cs typeface="DM Sans" pitchFamily="34" charset="-120"/>
              </a:rPr>
              <a:t> ይጫኑ፣ ከዚያ </a:t>
            </a:r>
            <a:r>
              <a:rPr lang="en-US" sz="1600" b="1" dirty="0">
                <a:solidFill>
                  <a:srgbClr val="1F2A24"/>
                </a:solidFill>
                <a:latin typeface="DM Sans" pitchFamily="34" charset="0"/>
                <a:ea typeface="DM Sans" pitchFamily="34" charset="-122"/>
                <a:cs typeface="DM Sans" pitchFamily="34" charset="-120"/>
              </a:rPr>
              <a:t>Opprett ny</a:t>
            </a:r>
            <a:r>
              <a:rPr lang="en-US" sz="1600" dirty="0">
                <a:solidFill>
                  <a:srgbClr val="1F2A24"/>
                </a:solidFill>
                <a:latin typeface="DM Sans" pitchFamily="34" charset="0"/>
                <a:ea typeface="DM Sans" pitchFamily="34" charset="-122"/>
                <a:cs typeface="DM Sans" pitchFamily="34" charset="-120"/>
              </a:rPr>
              <a:t>።</a:t>
            </a:r>
            <a:endParaRPr lang="en-US" sz="1600" dirty="0"/>
          </a:p>
        </p:txBody>
      </p:sp>
      <p:pic>
        <p:nvPicPr>
          <p:cNvPr id="13" name="Image 2" descr="Faste avtaler">    </p:cNvPr>
          <p:cNvPicPr>
            <a:picLocks noChangeAspect="1"/>
          </p:cNvPicPr>
          <p:nvPr/>
        </p:nvPicPr>
        <p:blipFill>
          <a:blip r:embed="rId3"/>
          <a:srcRect l="-460" r="-460" t="0" b="0"/>
          <a:stretch/>
        </p:blipFill>
        <p:spPr>
          <a:xfrm>
            <a:off x="1276350" y="3586460"/>
            <a:ext cx="2844800" cy="742950"/>
          </a:xfrm>
          <a:prstGeom prst="roundRect">
            <a:avLst>
              <a:gd name="adj" fmla="val 9402"/>
            </a:avLst>
          </a:prstGeom>
        </p:spPr>
      </p:pic>
      <p:sp>
        <p:nvSpPr>
          <p:cNvPr id="14" name="Shape 9"/>
          <p:cNvSpPr/>
          <p:nvPr/>
        </p:nvSpPr>
        <p:spPr>
          <a:xfrm>
            <a:off x="1273175" y="3583285"/>
            <a:ext cx="2851150" cy="749300"/>
          </a:xfrm>
          <a:prstGeom prst="roundRect">
            <a:avLst>
              <a:gd name="adj" fmla="val 9746"/>
            </a:avLst>
          </a:prstGeom>
          <a:noFill/>
          <a:ln w="6350">
            <a:solidFill>
              <a:srgbClr val="E3DCCB"/>
            </a:solidFill>
            <a:prstDash val="solid"/>
          </a:ln>
        </p:spPr>
      </p:sp>
      <p:sp>
        <p:nvSpPr>
          <p:cNvPr id="15" name="Text 10"/>
          <p:cNvSpPr/>
          <p:nvPr/>
        </p:nvSpPr>
        <p:spPr>
          <a:xfrm>
            <a:off x="812800" y="445775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C8962E"/>
          </a:solidFill>
          <a:ln/>
        </p:spPr>
        <p:txBody>
          <a:bodyPr wrap="square" lIns="0" tIns="0" rIns="0" bIns="0" rtlCol="0" anchor="ctr">
            <a:normAutofit/>
          </a:bodyPr>
          <a:lstStyle/>
          <a:p>
            <a:pPr algn="ctr" indent="0" marL="0">
              <a:lnSpc>
                <a:spcPts val="1960"/>
              </a:lnSpc>
              <a:buNone/>
            </a:pPr>
            <a:r>
              <a:rPr lang="en-US" sz="1400" b="1" dirty="0">
                <a:solidFill>
                  <a:srgbClr val="1F2A24"/>
                </a:solidFill>
                <a:latin typeface="DM Sans" pitchFamily="34" charset="0"/>
                <a:ea typeface="DM Sans" pitchFamily="34" charset="-122"/>
                <a:cs typeface="DM Sans" pitchFamily="34" charset="-120"/>
              </a:rPr>
              <a:t>4</a:t>
            </a:r>
            <a:endParaRPr lang="en-US" sz="1400" dirty="0"/>
          </a:p>
        </p:txBody>
      </p:sp>
      <p:sp>
        <p:nvSpPr>
          <p:cNvPr id="16" name="Text 11"/>
          <p:cNvSpPr/>
          <p:nvPr/>
        </p:nvSpPr>
        <p:spPr>
          <a:xfrm>
            <a:off x="1270000" y="4457750"/>
            <a:ext cx="686098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ቅጹን ይሙሉ፦ ቤተ ክርስቲያኑ፣ መጠን፣ </a:t>
            </a:r>
            <a:r>
              <a:rPr lang="en-US" sz="1600" b="1" dirty="0">
                <a:solidFill>
                  <a:srgbClr val="1F2A24"/>
                </a:solidFill>
                <a:latin typeface="DM Sans" pitchFamily="34" charset="0"/>
                <a:ea typeface="DM Sans" pitchFamily="34" charset="-122"/>
                <a:cs typeface="DM Sans" pitchFamily="34" charset="-120"/>
              </a:rPr>
              <a:t>Månedlig</a:t>
            </a:r>
            <a:r>
              <a:rPr lang="en-US" sz="1600" dirty="0">
                <a:solidFill>
                  <a:srgbClr val="1F2A24"/>
                </a:solidFill>
                <a:latin typeface="DM Sans" pitchFamily="34" charset="0"/>
                <a:ea typeface="DM Sans" pitchFamily="34" charset="-122"/>
                <a:cs typeface="DM Sans" pitchFamily="34" charset="-120"/>
              </a:rPr>
              <a:t> እና በ </a:t>
            </a:r>
            <a:r>
              <a:rPr lang="en-US" sz="1600" b="1" dirty="0">
                <a:solidFill>
                  <a:srgbClr val="1F2A24"/>
                </a:solidFill>
                <a:latin typeface="DM Sans" pitchFamily="34" charset="0"/>
                <a:ea typeface="DM Sans" pitchFamily="34" charset="-122"/>
                <a:cs typeface="DM Sans" pitchFamily="34" charset="-120"/>
              </a:rPr>
              <a:t>KID eller melding</a:t>
            </a:r>
            <a:r>
              <a:rPr lang="en-US" sz="1600" dirty="0">
                <a:solidFill>
                  <a:srgbClr val="1F2A24"/>
                </a:solidFill>
                <a:latin typeface="DM Sans" pitchFamily="34" charset="0"/>
                <a:ea typeface="DM Sans" pitchFamily="34" charset="-122"/>
                <a:cs typeface="DM Sans" pitchFamily="34" charset="-120"/>
              </a:rPr>
              <a:t> ሙሉ ስምዎ። →</a:t>
            </a:r>
            <a:endParaRPr lang="en-US" sz="1600" dirty="0"/>
          </a:p>
        </p:txBody>
      </p:sp>
      <p:sp>
        <p:nvSpPr>
          <p:cNvPr id="17" name="Text 12"/>
          <p:cNvSpPr/>
          <p:nvPr/>
        </p:nvSpPr>
        <p:spPr>
          <a:xfrm>
            <a:off x="812800" y="510798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5</a:t>
            </a:r>
            <a:endParaRPr lang="en-US" sz="1400" dirty="0"/>
          </a:p>
        </p:txBody>
      </p:sp>
      <p:sp>
        <p:nvSpPr>
          <p:cNvPr id="18" name="Text 13"/>
          <p:cNvSpPr/>
          <p:nvPr/>
        </p:nvSpPr>
        <p:spPr>
          <a:xfrm>
            <a:off x="1270000" y="5107980"/>
            <a:ext cx="294322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Neste</a:t>
            </a:r>
            <a:r>
              <a:rPr lang="en-US" sz="1600" dirty="0">
                <a:solidFill>
                  <a:srgbClr val="1F2A24"/>
                </a:solidFill>
                <a:latin typeface="DM Sans" pitchFamily="34" charset="0"/>
                <a:ea typeface="DM Sans" pitchFamily="34" charset="-122"/>
                <a:cs typeface="DM Sans" pitchFamily="34" charset="-120"/>
              </a:rPr>
              <a:t> ይጫኑ እና ያረጋግጡ።</a:t>
            </a:r>
            <a:endParaRPr lang="en-US" sz="1600" dirty="0"/>
          </a:p>
        </p:txBody>
      </p:sp>
      <p:pic>
        <p:nvPicPr>
          <p:cNvPr id="19" name="Image 3" descr="Neste">    </p:cNvPr>
          <p:cNvPicPr>
            <a:picLocks noChangeAspect="1"/>
          </p:cNvPicPr>
          <p:nvPr/>
        </p:nvPicPr>
        <p:blipFill>
          <a:blip r:embed="rId4"/>
          <a:stretch>
            <a:fillRect/>
          </a:stretch>
        </p:blipFill>
        <p:spPr>
          <a:xfrm>
            <a:off x="1319129" y="5429250"/>
            <a:ext cx="2759242" cy="406400"/>
          </a:xfrm>
          <a:custGeom>
            <a:avLst/>
            <a:gdLst/>
            <a:ahLst/>
            <a:cxnLst/>
            <a:rect l="l" t="t" r="r" b="b"/>
            <a:pathLst>
              <a:path w="2759242" h="406400">
                <a:moveTo>
                  <a:pt x="0" y="5459"/>
                </a:moveTo>
                <a:arcTo wR="69850" hR="69850" stAng="14831835" swAng="1368165"/>
                <a:lnTo>
                  <a:pt x="2732171" y="0"/>
                </a:lnTo>
                <a:arcTo wR="69850" hR="69850" stAng="16200000" swAng="1368165"/>
                <a:lnTo>
                  <a:pt x="2759242" y="400941"/>
                </a:lnTo>
                <a:arcTo wR="69850" hR="69850" stAng="4031835" swAng="1368165"/>
                <a:lnTo>
                  <a:pt x="27071" y="406400"/>
                </a:lnTo>
                <a:arcTo wR="69850" hR="69850" stAng="5400000" swAng="1368165"/>
                <a:close/>
              </a:path>
            </a:pathLst>
          </a:custGeom>
        </p:spPr>
      </p:pic>
      <p:sp>
        <p:nvSpPr>
          <p:cNvPr id="20" name="Shape 14"/>
          <p:cNvSpPr/>
          <p:nvPr/>
        </p:nvSpPr>
        <p:spPr>
          <a:xfrm>
            <a:off x="1273175" y="5426075"/>
            <a:ext cx="2851150" cy="412750"/>
          </a:xfrm>
          <a:prstGeom prst="roundRect">
            <a:avLst>
              <a:gd name="adj" fmla="val 17692"/>
            </a:avLst>
          </a:prstGeom>
          <a:noFill/>
          <a:ln w="6350">
            <a:solidFill>
              <a:srgbClr val="E3DCCB"/>
            </a:solidFill>
            <a:prstDash val="solid"/>
          </a:ln>
        </p:spPr>
      </p:sp>
      <p:sp>
        <p:nvSpPr>
          <p:cNvPr id="21" name="Shape 15"/>
          <p:cNvSpPr/>
          <p:nvPr/>
        </p:nvSpPr>
        <p:spPr>
          <a:xfrm>
            <a:off x="8286750" y="1305520"/>
            <a:ext cx="3092450" cy="4533900"/>
          </a:xfrm>
          <a:prstGeom prst="roundRect">
            <a:avLst>
              <a:gd name="adj" fmla="val 3285"/>
            </a:avLst>
          </a:prstGeom>
          <a:solidFill>
            <a:srgbClr val="FFFFFF"/>
          </a:solidFill>
          <a:ln/>
        </p:spPr>
      </p:sp>
      <p:pic>
        <p:nvPicPr>
          <p:cNvPr id="22" name="Image 4" descr="Skjema for ny fast betaling i SR-Bank-appen">    </p:cNvPr>
          <p:cNvPicPr>
            <a:picLocks noChangeAspect="1"/>
          </p:cNvPicPr>
          <p:nvPr/>
        </p:nvPicPr>
        <p:blipFill>
          <a:blip r:embed="rId5"/>
          <a:srcRect l="0" r="0" t="-100" b="-100"/>
          <a:stretch/>
        </p:blipFill>
        <p:spPr>
          <a:xfrm>
            <a:off x="8293100" y="1311870"/>
            <a:ext cx="3079750" cy="4521200"/>
          </a:xfrm>
          <a:prstGeom prst="roundRect">
            <a:avLst>
              <a:gd name="adj" fmla="val 3093"/>
            </a:avLst>
          </a:prstGeom>
        </p:spPr>
      </p:pic>
      <p:sp>
        <p:nvSpPr>
          <p:cNvPr id="23" name="Shape 16"/>
          <p:cNvSpPr/>
          <p:nvPr/>
        </p:nvSpPr>
        <p:spPr>
          <a:xfrm>
            <a:off x="8289925" y="1308695"/>
            <a:ext cx="3086100" cy="4527550"/>
          </a:xfrm>
          <a:prstGeom prst="roundRect">
            <a:avLst>
              <a:gd name="adj" fmla="val 3189"/>
            </a:avLst>
          </a:prstGeom>
          <a:noFill/>
          <a:ln w="6350">
            <a:solidFill>
              <a:srgbClr val="E3DCCB"/>
            </a:solidFill>
            <a:prstDash val="solid"/>
          </a:ln>
        </p:spPr>
      </p:sp>
      <p:sp>
        <p:nvSpPr>
          <p:cNvPr id="24"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2"/>
                </a:solidFill>
                <a:latin typeface="DM Sans" pitchFamily="34" charset="0"/>
                <a:ea typeface="DM Sans" pitchFamily="34" charset="-122"/>
                <a:cs typeface="DM Sans" pitchFamily="34" charset="-120"/>
              </a:rPr>
              <a:t>Til konto: </a:t>
            </a:r>
            <a:r>
              <a:rPr lang="en-US" sz="1200" b="1" dirty="0">
                <a:solidFill>
                  <a:srgbClr val="5B6B62"/>
                </a:solidFill>
                <a:latin typeface="DM Sans" pitchFamily="34" charset="0"/>
                <a:ea typeface="DM Sans" pitchFamily="34" charset="-122"/>
                <a:cs typeface="DM Sans" pitchFamily="34" charset="-120"/>
              </a:rPr>
              <a:t>3201 10 52249</a:t>
            </a:r>
            <a:r>
              <a:rPr lang="en-US" sz="1200" dirty="0">
                <a:solidFill>
                  <a:srgbClr val="5B6B62"/>
                </a:solidFill>
                <a:latin typeface="DM Sans" pitchFamily="34" charset="0"/>
                <a:ea typeface="DM Sans" pitchFamily="34" charset="-122"/>
                <a:cs typeface="DM Sans" pitchFamily="34" charset="-120"/>
              </a:rPr>
              <a:t> · Melding: </a:t>
            </a:r>
            <a:r>
              <a:rPr lang="en-US" sz="1200" b="1" dirty="0">
                <a:solidFill>
                  <a:srgbClr val="5B6B62"/>
                </a:solidFill>
                <a:latin typeface="DM Sans" pitchFamily="34" charset="0"/>
                <a:ea typeface="DM Sans" pitchFamily="34" charset="-122"/>
                <a:cs typeface="DM Sans" pitchFamily="34" charset="-120"/>
              </a:rPr>
              <a:t>Medlemskontingent – ሙሉ ስምዎ</a:t>
            </a:r>
            <a:r>
              <a:rPr lang="en-US" sz="1200" dirty="0">
                <a:solidFill>
                  <a:srgbClr val="5B6B62"/>
                </a:solidFill>
                <a:latin typeface="DM Sans" pitchFamily="34" charset="0"/>
                <a:ea typeface="DM Sans" pitchFamily="34" charset="-122"/>
                <a:cs typeface="DM Sans" pitchFamily="34" charset="-120"/>
              </a:rPr>
              <a:t> · </a:t>
            </a:r>
            <a:r>
              <a:rPr lang="en-US" sz="1200" b="1" dirty="0">
                <a:solidFill>
                  <a:srgbClr val="5B6B62"/>
                </a:solidFill>
                <a:latin typeface="DM Sans" pitchFamily="34" charset="0"/>
                <a:ea typeface="DM Sans" pitchFamily="34" charset="-122"/>
                <a:cs typeface="DM Sans" pitchFamily="34" charset="-120"/>
              </a:rPr>
              <a:t>Månedlig</a:t>
            </a:r>
            <a:endParaRPr lang="en-US" sz="1200" dirty="0"/>
          </a:p>
        </p:txBody>
      </p:sp>
      <p:pic>
        <p:nvPicPr>
          <p:cNvPr id="25" name="Image 5" descr="logo.svg">    </p:cNvPr>
          <p:cNvPicPr>
            <a:picLocks noChangeAspect="1"/>
          </p:cNvPicPr>
          <p:nvPr/>
        </p:nvPicPr>
        <p:blipFill>
          <a:blip r:embed="rId6"/>
          <a:srcRect l="0" r="0" t="7834" b="7834"/>
          <a:stretch/>
        </p:blipFill>
        <p:spPr>
          <a:xfrm>
            <a:off x="8942239" y="244425"/>
            <a:ext cx="2436961" cy="568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3A2B"/>
                </a:solidFill>
                <a:latin typeface="DM Sans" pitchFamily="34" charset="0"/>
                <a:ea typeface="DM Sans" pitchFamily="34" charset="-122"/>
                <a:cs typeface="DM Sans" pitchFamily="34" charset="-120"/>
              </a:rPr>
              <a:t>Rogaland Sparebank · app</a:t>
            </a:r>
            <a:endParaRPr lang="en-US" sz="2800" dirty="0"/>
          </a:p>
        </p:txBody>
      </p:sp>
      <p:sp>
        <p:nvSpPr>
          <p:cNvPr id="3" name="Text 1"/>
          <p:cNvSpPr/>
          <p:nvPr/>
        </p:nvSpPr>
        <p:spPr>
          <a:xfrm>
            <a:off x="812800" y="13055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1</a:t>
            </a:r>
            <a:endParaRPr lang="en-US" sz="1400" dirty="0"/>
          </a:p>
        </p:txBody>
      </p:sp>
      <p:sp>
        <p:nvSpPr>
          <p:cNvPr id="4" name="Text 2"/>
          <p:cNvSpPr/>
          <p:nvPr/>
        </p:nvSpPr>
        <p:spPr>
          <a:xfrm>
            <a:off x="1270000" y="1305520"/>
            <a:ext cx="196215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Betaling</a:t>
            </a:r>
            <a:r>
              <a:rPr lang="en-US" sz="1600" dirty="0">
                <a:solidFill>
                  <a:srgbClr val="1F2A24"/>
                </a:solidFill>
                <a:latin typeface="DM Sans" pitchFamily="34" charset="0"/>
                <a:ea typeface="DM Sans" pitchFamily="34" charset="-122"/>
                <a:cs typeface="DM Sans" pitchFamily="34" charset="-120"/>
              </a:rPr>
              <a:t> ይክፈቱ።</a:t>
            </a:r>
            <a:endParaRPr lang="en-US" sz="1600" dirty="0"/>
          </a:p>
        </p:txBody>
      </p:sp>
      <p:pic>
        <p:nvPicPr>
          <p:cNvPr id="5" name="Image 0" descr="Betaling-siden">    </p:cNvPr>
          <p:cNvPicPr>
            <a:picLocks noChangeAspect="1"/>
          </p:cNvPicPr>
          <p:nvPr/>
        </p:nvPicPr>
        <p:blipFill>
          <a:blip r:embed="rId1"/>
          <a:srcRect l="-189" r="-189" t="0" b="0"/>
          <a:stretch/>
        </p:blipFill>
        <p:spPr>
          <a:xfrm>
            <a:off x="1276350" y="1626791"/>
            <a:ext cx="1892300" cy="1066800"/>
          </a:xfrm>
          <a:prstGeom prst="roundRect">
            <a:avLst>
              <a:gd name="adj" fmla="val 6548"/>
            </a:avLst>
          </a:prstGeom>
        </p:spPr>
      </p:pic>
      <p:sp>
        <p:nvSpPr>
          <p:cNvPr id="6" name="Shape 3"/>
          <p:cNvSpPr/>
          <p:nvPr/>
        </p:nvSpPr>
        <p:spPr>
          <a:xfrm>
            <a:off x="1273175" y="1623616"/>
            <a:ext cx="1898650" cy="1073150"/>
          </a:xfrm>
          <a:prstGeom prst="roundRect">
            <a:avLst>
              <a:gd name="adj" fmla="val 6805"/>
            </a:avLst>
          </a:prstGeom>
          <a:noFill/>
          <a:ln w="6350">
            <a:solidFill>
              <a:srgbClr val="E3DCCB"/>
            </a:solidFill>
            <a:prstDash val="solid"/>
          </a:ln>
        </p:spPr>
      </p:sp>
      <p:sp>
        <p:nvSpPr>
          <p:cNvPr id="7" name="Text 4"/>
          <p:cNvSpPr/>
          <p:nvPr/>
        </p:nvSpPr>
        <p:spPr>
          <a:xfrm>
            <a:off x="812800" y="2899817"/>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2</a:t>
            </a:r>
            <a:endParaRPr lang="en-US" sz="1400" dirty="0"/>
          </a:p>
        </p:txBody>
      </p:sp>
      <p:sp>
        <p:nvSpPr>
          <p:cNvPr id="8" name="Text 5"/>
          <p:cNvSpPr/>
          <p:nvPr/>
        </p:nvSpPr>
        <p:spPr>
          <a:xfrm>
            <a:off x="1270000" y="2899817"/>
            <a:ext cx="62611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Faste betalinger og overføringer</a:t>
            </a:r>
            <a:r>
              <a:rPr lang="en-US" sz="1600" dirty="0">
                <a:solidFill>
                  <a:srgbClr val="1F2A24"/>
                </a:solidFill>
                <a:latin typeface="DM Sans" pitchFamily="34" charset="0"/>
                <a:ea typeface="DM Sans" pitchFamily="34" charset="-122"/>
                <a:cs typeface="DM Sans" pitchFamily="34" charset="-120"/>
              </a:rPr>
              <a:t> ይጫኑ እና አዲስ ይፍጠሩ።</a:t>
            </a:r>
            <a:endParaRPr lang="en-US" sz="1600" dirty="0"/>
          </a:p>
        </p:txBody>
      </p:sp>
      <p:pic>
        <p:nvPicPr>
          <p:cNvPr id="9" name="Image 1" descr="Faste betalinger og overføringer">    </p:cNvPr>
          <p:cNvPicPr>
            <a:picLocks noChangeAspect="1"/>
          </p:cNvPicPr>
          <p:nvPr/>
        </p:nvPicPr>
        <p:blipFill>
          <a:blip r:embed="rId2"/>
          <a:stretch>
            <a:fillRect/>
          </a:stretch>
        </p:blipFill>
        <p:spPr>
          <a:xfrm>
            <a:off x="1295111" y="3221087"/>
            <a:ext cx="3251777" cy="831850"/>
          </a:xfrm>
          <a:custGeom>
            <a:avLst/>
            <a:gdLst/>
            <a:ahLst/>
            <a:cxnLst/>
            <a:rect l="l" t="t" r="r" b="b"/>
            <a:pathLst>
              <a:path w="3251777" h="831850">
                <a:moveTo>
                  <a:pt x="0" y="22216"/>
                </a:moveTo>
                <a:arcTo wR="69850" hR="69850" stAng="13379742" swAng="2820258"/>
                <a:lnTo>
                  <a:pt x="3200689" y="0"/>
                </a:lnTo>
                <a:arcTo wR="69850" hR="69850" stAng="16200000" swAng="2820258"/>
                <a:lnTo>
                  <a:pt x="3251777" y="809634"/>
                </a:lnTo>
                <a:arcTo wR="69850" hR="69850" stAng="2579742" swAng="2820258"/>
                <a:lnTo>
                  <a:pt x="51089" y="831850"/>
                </a:lnTo>
                <a:arcTo wR="69850" hR="69850" stAng="5400000" swAng="2820258"/>
                <a:close/>
              </a:path>
            </a:pathLst>
          </a:custGeom>
        </p:spPr>
      </p:pic>
      <p:sp>
        <p:nvSpPr>
          <p:cNvPr id="10" name="Shape 6"/>
          <p:cNvSpPr/>
          <p:nvPr/>
        </p:nvSpPr>
        <p:spPr>
          <a:xfrm>
            <a:off x="1273175" y="3217912"/>
            <a:ext cx="3295650" cy="838200"/>
          </a:xfrm>
          <a:prstGeom prst="roundRect">
            <a:avLst>
              <a:gd name="adj" fmla="val 8712"/>
            </a:avLst>
          </a:prstGeom>
          <a:noFill/>
          <a:ln w="6350">
            <a:solidFill>
              <a:srgbClr val="E3DCCB"/>
            </a:solidFill>
            <a:prstDash val="solid"/>
          </a:ln>
        </p:spPr>
      </p:sp>
      <p:sp>
        <p:nvSpPr>
          <p:cNvPr id="11" name="Text 7"/>
          <p:cNvSpPr/>
          <p:nvPr/>
        </p:nvSpPr>
        <p:spPr>
          <a:xfrm>
            <a:off x="812800" y="4259213"/>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C8962E"/>
          </a:solidFill>
          <a:ln/>
        </p:spPr>
        <p:txBody>
          <a:bodyPr wrap="square" lIns="0" tIns="0" rIns="0" bIns="0" rtlCol="0" anchor="ctr">
            <a:normAutofit/>
          </a:bodyPr>
          <a:lstStyle/>
          <a:p>
            <a:pPr algn="ctr" indent="0" marL="0">
              <a:lnSpc>
                <a:spcPts val="1960"/>
              </a:lnSpc>
              <a:buNone/>
            </a:pPr>
            <a:r>
              <a:rPr lang="en-US" sz="1400" b="1" dirty="0">
                <a:solidFill>
                  <a:srgbClr val="1F2A24"/>
                </a:solidFill>
                <a:latin typeface="DM Sans" pitchFamily="34" charset="0"/>
                <a:ea typeface="DM Sans" pitchFamily="34" charset="-122"/>
                <a:cs typeface="DM Sans" pitchFamily="34" charset="-120"/>
              </a:rPr>
              <a:t>3</a:t>
            </a:r>
            <a:endParaRPr lang="en-US" sz="1400" dirty="0"/>
          </a:p>
        </p:txBody>
      </p:sp>
      <p:sp>
        <p:nvSpPr>
          <p:cNvPr id="12" name="Text 8"/>
          <p:cNvSpPr/>
          <p:nvPr/>
        </p:nvSpPr>
        <p:spPr>
          <a:xfrm>
            <a:off x="1270000" y="4259213"/>
            <a:ext cx="6082665"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ቤተ ክርስቲያኑን (Til)፣ መጠኑን እና ቀኑን ያስገቡ፣ </a:t>
            </a:r>
            <a:r>
              <a:rPr lang="en-US" sz="1600" b="1" dirty="0">
                <a:solidFill>
                  <a:srgbClr val="1F2A24"/>
                </a:solidFill>
                <a:latin typeface="DM Sans" pitchFamily="34" charset="0"/>
                <a:ea typeface="DM Sans" pitchFamily="34" charset="-122"/>
                <a:cs typeface="DM Sans" pitchFamily="34" charset="-120"/>
              </a:rPr>
              <a:t>månedlig</a:t>
            </a:r>
            <a:r>
              <a:rPr lang="en-US" sz="1600" dirty="0">
                <a:solidFill>
                  <a:srgbClr val="1F2A24"/>
                </a:solidFill>
                <a:latin typeface="DM Sans" pitchFamily="34" charset="0"/>
                <a:ea typeface="DM Sans" pitchFamily="34" charset="-122"/>
                <a:cs typeface="DM Sans" pitchFamily="34" charset="-120"/>
              </a:rPr>
              <a:t> ይምረጡ፣ በ </a:t>
            </a:r>
            <a:r>
              <a:rPr lang="en-US" sz="1600" b="1" dirty="0">
                <a:solidFill>
                  <a:srgbClr val="1F2A24"/>
                </a:solidFill>
                <a:latin typeface="DM Sans" pitchFamily="34" charset="0"/>
                <a:ea typeface="DM Sans" pitchFamily="34" charset="-122"/>
                <a:cs typeface="DM Sans" pitchFamily="34" charset="-120"/>
              </a:rPr>
              <a:t>Melding</a:t>
            </a:r>
            <a:r>
              <a:rPr lang="en-US" sz="1600" dirty="0">
                <a:solidFill>
                  <a:srgbClr val="1F2A24"/>
                </a:solidFill>
                <a:latin typeface="DM Sans" pitchFamily="34" charset="0"/>
                <a:ea typeface="DM Sans" pitchFamily="34" charset="-122"/>
                <a:cs typeface="DM Sans" pitchFamily="34" charset="-120"/>
              </a:rPr>
              <a:t> ሙሉ ስምዎን ይጻፉ። →</a:t>
            </a:r>
            <a:endParaRPr lang="en-US" sz="1600" dirty="0"/>
          </a:p>
        </p:txBody>
      </p:sp>
      <p:sp>
        <p:nvSpPr>
          <p:cNvPr id="13" name="Text 9"/>
          <p:cNvSpPr/>
          <p:nvPr/>
        </p:nvSpPr>
        <p:spPr>
          <a:xfrm>
            <a:off x="812800" y="498733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4</a:t>
            </a:r>
            <a:endParaRPr lang="en-US" sz="1400" dirty="0"/>
          </a:p>
        </p:txBody>
      </p:sp>
      <p:sp>
        <p:nvSpPr>
          <p:cNvPr id="14" name="Text 10"/>
          <p:cNvSpPr/>
          <p:nvPr/>
        </p:nvSpPr>
        <p:spPr>
          <a:xfrm>
            <a:off x="1270000" y="4987330"/>
            <a:ext cx="340106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Opprett betaling</a:t>
            </a:r>
            <a:r>
              <a:rPr lang="en-US" sz="1600" dirty="0">
                <a:solidFill>
                  <a:srgbClr val="1F2A24"/>
                </a:solidFill>
                <a:latin typeface="DM Sans" pitchFamily="34" charset="0"/>
                <a:ea typeface="DM Sans" pitchFamily="34" charset="-122"/>
                <a:cs typeface="DM Sans" pitchFamily="34" charset="-120"/>
              </a:rPr>
              <a:t> ይጫኑ።</a:t>
            </a:r>
            <a:endParaRPr lang="en-US" sz="1600" dirty="0"/>
          </a:p>
        </p:txBody>
      </p:sp>
      <p:pic>
        <p:nvPicPr>
          <p:cNvPr id="15" name="Image 2" descr="Opprett betaling">    </p:cNvPr>
          <p:cNvPicPr>
            <a:picLocks noChangeAspect="1"/>
          </p:cNvPicPr>
          <p:nvPr/>
        </p:nvPicPr>
        <p:blipFill>
          <a:blip r:embed="rId3"/>
          <a:stretch>
            <a:fillRect/>
          </a:stretch>
        </p:blipFill>
        <p:spPr>
          <a:xfrm>
            <a:off x="1302204" y="5308600"/>
            <a:ext cx="3237593" cy="527050"/>
          </a:xfrm>
          <a:custGeom>
            <a:avLst/>
            <a:gdLst/>
            <a:ahLst/>
            <a:cxnLst/>
            <a:rect l="l" t="t" r="r" b="b"/>
            <a:pathLst>
              <a:path w="3237593" h="527050">
                <a:moveTo>
                  <a:pt x="0" y="15597"/>
                </a:moveTo>
                <a:arcTo wR="69850" hR="69850" stAng="13857568" swAng="2342432"/>
                <a:lnTo>
                  <a:pt x="3193596" y="0"/>
                </a:lnTo>
                <a:arcTo wR="69850" hR="69850" stAng="16200000" swAng="2342432"/>
                <a:lnTo>
                  <a:pt x="3237593" y="511453"/>
                </a:lnTo>
                <a:arcTo wR="69850" hR="69850" stAng="3057568" swAng="2342432"/>
                <a:lnTo>
                  <a:pt x="43996" y="527050"/>
                </a:lnTo>
                <a:arcTo wR="69850" hR="69850" stAng="5400000" swAng="2342432"/>
                <a:close/>
              </a:path>
            </a:pathLst>
          </a:custGeom>
        </p:spPr>
      </p:pic>
      <p:sp>
        <p:nvSpPr>
          <p:cNvPr id="16" name="Shape 11"/>
          <p:cNvSpPr/>
          <p:nvPr/>
        </p:nvSpPr>
        <p:spPr>
          <a:xfrm>
            <a:off x="1273175" y="5305425"/>
            <a:ext cx="3295650" cy="533400"/>
          </a:xfrm>
          <a:prstGeom prst="roundRect">
            <a:avLst>
              <a:gd name="adj" fmla="val 13690"/>
            </a:avLst>
          </a:prstGeom>
          <a:noFill/>
          <a:ln w="6350">
            <a:solidFill>
              <a:srgbClr val="E3DCCB"/>
            </a:solidFill>
            <a:prstDash val="solid"/>
          </a:ln>
        </p:spPr>
      </p:sp>
      <p:sp>
        <p:nvSpPr>
          <p:cNvPr id="17" name="Shape 12"/>
          <p:cNvSpPr/>
          <p:nvPr/>
        </p:nvSpPr>
        <p:spPr>
          <a:xfrm>
            <a:off x="7531100" y="1305520"/>
            <a:ext cx="3848100" cy="4533900"/>
          </a:xfrm>
          <a:prstGeom prst="roundRect">
            <a:avLst>
              <a:gd name="adj" fmla="val 2640"/>
            </a:avLst>
          </a:prstGeom>
          <a:solidFill>
            <a:srgbClr val="FFFFFF"/>
          </a:solidFill>
          <a:ln/>
        </p:spPr>
      </p:sp>
      <p:pic>
        <p:nvPicPr>
          <p:cNvPr id="18" name="Image 3" descr="Fast betaling i Rogaland Sparebank-appen">    </p:cNvPr>
          <p:cNvPicPr>
            <a:picLocks noChangeAspect="1"/>
          </p:cNvPicPr>
          <p:nvPr/>
        </p:nvPicPr>
        <p:blipFill>
          <a:blip r:embed="rId4"/>
          <a:srcRect l="0" r="0" t="-22" b="-22"/>
          <a:stretch/>
        </p:blipFill>
        <p:spPr>
          <a:xfrm>
            <a:off x="7537450" y="1311870"/>
            <a:ext cx="3835400" cy="4521200"/>
          </a:xfrm>
          <a:prstGeom prst="roundRect">
            <a:avLst>
              <a:gd name="adj" fmla="val 2483"/>
            </a:avLst>
          </a:prstGeom>
        </p:spPr>
      </p:pic>
      <p:sp>
        <p:nvSpPr>
          <p:cNvPr id="19" name="Shape 13"/>
          <p:cNvSpPr/>
          <p:nvPr/>
        </p:nvSpPr>
        <p:spPr>
          <a:xfrm>
            <a:off x="7534275" y="1308695"/>
            <a:ext cx="3841750" cy="4527550"/>
          </a:xfrm>
          <a:prstGeom prst="roundRect">
            <a:avLst>
              <a:gd name="adj" fmla="val 2562"/>
            </a:avLst>
          </a:prstGeom>
          <a:noFill/>
          <a:ln w="6350">
            <a:solidFill>
              <a:srgbClr val="E3DCCB"/>
            </a:solidFill>
            <a:prstDash val="solid"/>
          </a:ln>
        </p:spPr>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2"/>
                </a:solidFill>
                <a:latin typeface="DM Sans" pitchFamily="34" charset="0"/>
                <a:ea typeface="DM Sans" pitchFamily="34" charset="-122"/>
                <a:cs typeface="DM Sans" pitchFamily="34" charset="-120"/>
              </a:rPr>
              <a:t>Til konto: </a:t>
            </a:r>
            <a:r>
              <a:rPr lang="en-US" sz="1200" b="1" dirty="0">
                <a:solidFill>
                  <a:srgbClr val="5B6B62"/>
                </a:solidFill>
                <a:latin typeface="DM Sans" pitchFamily="34" charset="0"/>
                <a:ea typeface="DM Sans" pitchFamily="34" charset="-122"/>
                <a:cs typeface="DM Sans" pitchFamily="34" charset="-120"/>
              </a:rPr>
              <a:t>3201 10 52249</a:t>
            </a:r>
            <a:r>
              <a:rPr lang="en-US" sz="1200" dirty="0">
                <a:solidFill>
                  <a:srgbClr val="5B6B62"/>
                </a:solidFill>
                <a:latin typeface="DM Sans" pitchFamily="34" charset="0"/>
                <a:ea typeface="DM Sans" pitchFamily="34" charset="-122"/>
                <a:cs typeface="DM Sans" pitchFamily="34" charset="-120"/>
              </a:rPr>
              <a:t> · Melding: </a:t>
            </a:r>
            <a:r>
              <a:rPr lang="en-US" sz="1200" b="1" dirty="0">
                <a:solidFill>
                  <a:srgbClr val="5B6B62"/>
                </a:solidFill>
                <a:latin typeface="DM Sans" pitchFamily="34" charset="0"/>
                <a:ea typeface="DM Sans" pitchFamily="34" charset="-122"/>
                <a:cs typeface="DM Sans" pitchFamily="34" charset="-120"/>
              </a:rPr>
              <a:t>Medlemskontingent – ሙሉ ስምዎ</a:t>
            </a:r>
            <a:r>
              <a:rPr lang="en-US" sz="1200" dirty="0">
                <a:solidFill>
                  <a:srgbClr val="5B6B62"/>
                </a:solidFill>
                <a:latin typeface="DM Sans" pitchFamily="34" charset="0"/>
                <a:ea typeface="DM Sans" pitchFamily="34" charset="-122"/>
                <a:cs typeface="DM Sans" pitchFamily="34" charset="-120"/>
              </a:rPr>
              <a:t> · </a:t>
            </a:r>
            <a:r>
              <a:rPr lang="en-US" sz="1200" b="1" dirty="0">
                <a:solidFill>
                  <a:srgbClr val="5B6B62"/>
                </a:solidFill>
                <a:latin typeface="DM Sans" pitchFamily="34" charset="0"/>
                <a:ea typeface="DM Sans" pitchFamily="34" charset="-122"/>
                <a:cs typeface="DM Sans" pitchFamily="34" charset="-120"/>
              </a:rPr>
              <a:t>Månedlig</a:t>
            </a:r>
            <a:endParaRPr lang="en-US" sz="1200" dirty="0"/>
          </a:p>
        </p:txBody>
      </p:sp>
      <p:pic>
        <p:nvPicPr>
          <p:cNvPr id="21" name="Image 4" descr="RSB_Jubileumslogo_Horisontal_RGB_Svart.svg">    </p:cNvPr>
          <p:cNvPicPr>
            <a:picLocks noChangeAspect="1"/>
          </p:cNvPicPr>
          <p:nvPr/>
        </p:nvPicPr>
        <p:blipFill>
          <a:blip r:embed="rId5"/>
          <a:srcRect l="0" r="0" t="0" b="0"/>
          <a:stretch/>
        </p:blipFill>
        <p:spPr>
          <a:xfrm>
            <a:off x="7315200" y="278805"/>
            <a:ext cx="4064000" cy="7112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3A2B"/>
                </a:solidFill>
                <a:latin typeface="DM Sans" pitchFamily="34" charset="0"/>
                <a:ea typeface="DM Sans" pitchFamily="34" charset="-122"/>
                <a:cs typeface="DM Sans" pitchFamily="34" charset="-120"/>
              </a:rPr>
              <a:t>Nordea · nettbank</a:t>
            </a:r>
            <a:endParaRPr lang="en-US" sz="2800" dirty="0"/>
          </a:p>
        </p:txBody>
      </p:sp>
      <p:sp>
        <p:nvSpPr>
          <p:cNvPr id="3" name="Text 1"/>
          <p:cNvSpPr/>
          <p:nvPr/>
        </p:nvSpPr>
        <p:spPr>
          <a:xfrm>
            <a:off x="812800" y="13055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1</a:t>
            </a:r>
            <a:endParaRPr lang="en-US" sz="1400" dirty="0"/>
          </a:p>
        </p:txBody>
      </p:sp>
      <p:sp>
        <p:nvSpPr>
          <p:cNvPr id="4" name="Text 2"/>
          <p:cNvSpPr/>
          <p:nvPr/>
        </p:nvSpPr>
        <p:spPr>
          <a:xfrm>
            <a:off x="1270000" y="1305520"/>
            <a:ext cx="3244088" cy="81776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አዲስ ክፍያ ይክፈቱ። </a:t>
            </a:r>
            <a:r>
              <a:rPr lang="en-US" sz="1600" b="1" dirty="0">
                <a:solidFill>
                  <a:srgbClr val="1F2A24"/>
                </a:solidFill>
                <a:latin typeface="DM Sans" pitchFamily="34" charset="0"/>
                <a:ea typeface="DM Sans" pitchFamily="34" charset="-122"/>
                <a:cs typeface="DM Sans" pitchFamily="34" charset="-120"/>
              </a:rPr>
              <a:t>Kontonummer</a:t>
            </a:r>
            <a:r>
              <a:rPr lang="en-US" sz="1600" dirty="0">
                <a:solidFill>
                  <a:srgbClr val="1F2A24"/>
                </a:solidFill>
                <a:latin typeface="DM Sans" pitchFamily="34" charset="0"/>
                <a:ea typeface="DM Sans" pitchFamily="34" charset="-122"/>
                <a:cs typeface="DM Sans" pitchFamily="34" charset="-120"/>
              </a:rPr>
              <a:t>፦ </a:t>
            </a:r>
            <a:r>
              <a:rPr lang="en-US" sz="1600" b="1" dirty="0">
                <a:solidFill>
                  <a:srgbClr val="1F2A24"/>
                </a:solidFill>
                <a:latin typeface="DM Sans" pitchFamily="34" charset="0"/>
                <a:ea typeface="DM Sans" pitchFamily="34" charset="-122"/>
                <a:cs typeface="DM Sans" pitchFamily="34" charset="-120"/>
              </a:rPr>
              <a:t>32011052249</a:t>
            </a:r>
            <a:r>
              <a:rPr lang="en-US" sz="1600" dirty="0">
                <a:solidFill>
                  <a:srgbClr val="1F2A24"/>
                </a:solidFill>
                <a:latin typeface="DM Sans" pitchFamily="34" charset="0"/>
                <a:ea typeface="DM Sans" pitchFamily="34" charset="-122"/>
                <a:cs typeface="DM Sans" pitchFamily="34" charset="-120"/>
              </a:rPr>
              <a:t>፣ መጠኑን (</a:t>
            </a:r>
            <a:r>
              <a:rPr lang="en-US" sz="1600" b="1" dirty="0">
                <a:solidFill>
                  <a:srgbClr val="1F2A24"/>
                </a:solidFill>
                <a:latin typeface="DM Sans" pitchFamily="34" charset="0"/>
                <a:ea typeface="DM Sans" pitchFamily="34" charset="-122"/>
                <a:cs typeface="DM Sans" pitchFamily="34" charset="-120"/>
              </a:rPr>
              <a:t>Beløp</a:t>
            </a:r>
            <a:r>
              <a:rPr lang="en-US" sz="1600" dirty="0">
                <a:solidFill>
                  <a:srgbClr val="1F2A24"/>
                </a:solidFill>
                <a:latin typeface="DM Sans" pitchFamily="34" charset="0"/>
                <a:ea typeface="DM Sans" pitchFamily="34" charset="-122"/>
                <a:cs typeface="DM Sans" pitchFamily="34" charset="-120"/>
              </a:rPr>
              <a:t>) ያስገቡ።</a:t>
            </a:r>
            <a:endParaRPr lang="en-US" sz="1600" dirty="0"/>
          </a:p>
        </p:txBody>
      </p:sp>
      <p:sp>
        <p:nvSpPr>
          <p:cNvPr id="5" name="Shape 3"/>
          <p:cNvSpPr/>
          <p:nvPr/>
        </p:nvSpPr>
        <p:spPr>
          <a:xfrm>
            <a:off x="4775200" y="1305520"/>
            <a:ext cx="6604000" cy="1549400"/>
          </a:xfrm>
          <a:prstGeom prst="roundRect">
            <a:avLst>
              <a:gd name="adj" fmla="val 4918"/>
            </a:avLst>
          </a:prstGeom>
          <a:solidFill>
            <a:srgbClr val="FFFFFF"/>
          </a:solidFill>
          <a:ln/>
        </p:spPr>
      </p:sp>
      <p:pic>
        <p:nvPicPr>
          <p:cNvPr id="6" name="Image 0" descr="Kontonummer og beløp">    </p:cNvPr>
          <p:cNvPicPr>
            <a:picLocks noChangeAspect="1"/>
          </p:cNvPicPr>
          <p:nvPr/>
        </p:nvPicPr>
        <p:blipFill>
          <a:blip r:embed="rId1"/>
          <a:srcRect l="-265" r="-265" t="0" b="0"/>
          <a:stretch/>
        </p:blipFill>
        <p:spPr>
          <a:xfrm>
            <a:off x="4781550" y="1311870"/>
            <a:ext cx="6591300" cy="1536700"/>
          </a:xfrm>
          <a:prstGeom prst="roundRect">
            <a:avLst>
              <a:gd name="adj" fmla="val 4545"/>
            </a:avLst>
          </a:prstGeom>
        </p:spPr>
      </p:pic>
      <p:sp>
        <p:nvSpPr>
          <p:cNvPr id="7" name="Shape 4"/>
          <p:cNvSpPr/>
          <p:nvPr/>
        </p:nvSpPr>
        <p:spPr>
          <a:xfrm>
            <a:off x="4778375" y="1308695"/>
            <a:ext cx="6597650" cy="1543050"/>
          </a:xfrm>
          <a:prstGeom prst="roundRect">
            <a:avLst>
              <a:gd name="adj" fmla="val 4733"/>
            </a:avLst>
          </a:prstGeom>
          <a:noFill/>
          <a:ln w="6350">
            <a:solidFill>
              <a:srgbClr val="E3DCCB"/>
            </a:solidFill>
            <a:prstDash val="solid"/>
          </a:ln>
        </p:spPr>
      </p:sp>
      <p:sp>
        <p:nvSpPr>
          <p:cNvPr id="8" name="Text 5"/>
          <p:cNvSpPr/>
          <p:nvPr/>
        </p:nvSpPr>
        <p:spPr>
          <a:xfrm>
            <a:off x="812800" y="300861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2</a:t>
            </a:r>
            <a:endParaRPr lang="en-US" sz="1400" dirty="0"/>
          </a:p>
        </p:txBody>
      </p:sp>
      <p:sp>
        <p:nvSpPr>
          <p:cNvPr id="9" name="Text 6"/>
          <p:cNvSpPr/>
          <p:nvPr/>
        </p:nvSpPr>
        <p:spPr>
          <a:xfrm>
            <a:off x="1270000" y="3008610"/>
            <a:ext cx="3433763"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በ </a:t>
            </a:r>
            <a:r>
              <a:rPr lang="en-US" sz="1600" b="1" dirty="0">
                <a:solidFill>
                  <a:srgbClr val="1F2A24"/>
                </a:solidFill>
                <a:latin typeface="DM Sans" pitchFamily="34" charset="0"/>
                <a:ea typeface="DM Sans" pitchFamily="34" charset="-122"/>
                <a:cs typeface="DM Sans" pitchFamily="34" charset="-120"/>
              </a:rPr>
              <a:t>Melding</a:t>
            </a:r>
            <a:r>
              <a:rPr lang="en-US" sz="1600" dirty="0">
                <a:solidFill>
                  <a:srgbClr val="1F2A24"/>
                </a:solidFill>
                <a:latin typeface="DM Sans" pitchFamily="34" charset="0"/>
                <a:ea typeface="DM Sans" pitchFamily="34" charset="-122"/>
                <a:cs typeface="DM Sans" pitchFamily="34" charset="-120"/>
              </a:rPr>
              <a:t> ሙሉ ስምዎን ይጻፉ።</a:t>
            </a:r>
            <a:endParaRPr lang="en-US" sz="1600" dirty="0"/>
          </a:p>
        </p:txBody>
      </p:sp>
      <p:sp>
        <p:nvSpPr>
          <p:cNvPr id="10" name="Shape 7"/>
          <p:cNvSpPr/>
          <p:nvPr/>
        </p:nvSpPr>
        <p:spPr>
          <a:xfrm>
            <a:off x="4775200" y="3008610"/>
            <a:ext cx="6604000" cy="774700"/>
          </a:xfrm>
          <a:prstGeom prst="roundRect">
            <a:avLst>
              <a:gd name="adj" fmla="val 9836"/>
            </a:avLst>
          </a:prstGeom>
          <a:solidFill>
            <a:srgbClr val="FFFFFF"/>
          </a:solidFill>
          <a:ln/>
        </p:spPr>
      </p:sp>
      <p:pic>
        <p:nvPicPr>
          <p:cNvPr id="11" name="Image 1" descr="Melding">    </p:cNvPr>
          <p:cNvPicPr>
            <a:picLocks noChangeAspect="1"/>
          </p:cNvPicPr>
          <p:nvPr/>
        </p:nvPicPr>
        <p:blipFill>
          <a:blip r:embed="rId2"/>
          <a:stretch>
            <a:fillRect/>
          </a:stretch>
        </p:blipFill>
        <p:spPr>
          <a:xfrm>
            <a:off x="4826000" y="3014960"/>
            <a:ext cx="6502400" cy="762000"/>
          </a:xfrm>
          <a:custGeom>
            <a:avLst/>
            <a:gdLst/>
            <a:ahLst/>
            <a:cxnLst/>
            <a:rect l="l" t="t" r="r" b="b"/>
            <a:pathLst>
              <a:path w="6502400" h="762000">
                <a:moveTo>
                  <a:pt x="0" y="4782"/>
                </a:moveTo>
                <a:arcTo wR="69850" hR="69850" stAng="14920579" swAng="1279421"/>
                <a:lnTo>
                  <a:pt x="6477000" y="0"/>
                </a:lnTo>
                <a:arcTo wR="69850" hR="69850" stAng="16200000" swAng="1279421"/>
                <a:lnTo>
                  <a:pt x="6502400" y="757218"/>
                </a:lnTo>
                <a:arcTo wR="69850" hR="69850" stAng="4120579" swAng="1279421"/>
                <a:lnTo>
                  <a:pt x="25400" y="762000"/>
                </a:lnTo>
                <a:arcTo wR="69850" hR="69850" stAng="5400000" swAng="1279421"/>
                <a:close/>
              </a:path>
            </a:pathLst>
          </a:custGeom>
        </p:spPr>
      </p:pic>
      <p:sp>
        <p:nvSpPr>
          <p:cNvPr id="12" name="Shape 8"/>
          <p:cNvSpPr/>
          <p:nvPr/>
        </p:nvSpPr>
        <p:spPr>
          <a:xfrm>
            <a:off x="4778375" y="3011785"/>
            <a:ext cx="6597650" cy="768350"/>
          </a:xfrm>
          <a:prstGeom prst="roundRect">
            <a:avLst>
              <a:gd name="adj" fmla="val 9504"/>
            </a:avLst>
          </a:prstGeom>
          <a:noFill/>
          <a:ln w="6350">
            <a:solidFill>
              <a:srgbClr val="E3DCCB"/>
            </a:solidFill>
            <a:prstDash val="solid"/>
          </a:ln>
        </p:spPr>
      </p:sp>
      <p:sp>
        <p:nvSpPr>
          <p:cNvPr id="13" name="Text 9"/>
          <p:cNvSpPr/>
          <p:nvPr/>
        </p:nvSpPr>
        <p:spPr>
          <a:xfrm>
            <a:off x="812800" y="393700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3</a:t>
            </a:r>
            <a:endParaRPr lang="en-US" sz="1400" dirty="0"/>
          </a:p>
        </p:txBody>
      </p:sp>
      <p:sp>
        <p:nvSpPr>
          <p:cNvPr id="14" name="Text 10"/>
          <p:cNvSpPr/>
          <p:nvPr/>
        </p:nvSpPr>
        <p:spPr>
          <a:xfrm>
            <a:off x="1270000" y="3937000"/>
            <a:ext cx="3244088" cy="81776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Opprett fast betaling</a:t>
            </a:r>
            <a:r>
              <a:rPr lang="en-US" sz="1600" dirty="0">
                <a:solidFill>
                  <a:srgbClr val="1F2A24"/>
                </a:solidFill>
                <a:latin typeface="DM Sans" pitchFamily="34" charset="0"/>
                <a:ea typeface="DM Sans" pitchFamily="34" charset="-122"/>
                <a:cs typeface="DM Sans" pitchFamily="34" charset="-120"/>
              </a:rPr>
              <a:t> ምልክት ያድርጉ፣ </a:t>
            </a:r>
            <a:r>
              <a:rPr lang="en-US" sz="1600" b="1" dirty="0">
                <a:solidFill>
                  <a:srgbClr val="1F2A24"/>
                </a:solidFill>
                <a:latin typeface="DM Sans" pitchFamily="34" charset="0"/>
                <a:ea typeface="DM Sans" pitchFamily="34" charset="-122"/>
                <a:cs typeface="DM Sans" pitchFamily="34" charset="-120"/>
              </a:rPr>
              <a:t>Månedlig</a:t>
            </a:r>
            <a:r>
              <a:rPr lang="en-US" sz="1600" dirty="0">
                <a:solidFill>
                  <a:srgbClr val="1F2A24"/>
                </a:solidFill>
                <a:latin typeface="DM Sans" pitchFamily="34" charset="0"/>
                <a:ea typeface="DM Sans" pitchFamily="34" charset="-122"/>
                <a:cs typeface="DM Sans" pitchFamily="34" charset="-120"/>
              </a:rPr>
              <a:t> እና </a:t>
            </a:r>
            <a:r>
              <a:rPr lang="en-US" sz="1600" b="1" dirty="0">
                <a:solidFill>
                  <a:srgbClr val="1F2A24"/>
                </a:solidFill>
                <a:latin typeface="DM Sans" pitchFamily="34" charset="0"/>
                <a:ea typeface="DM Sans" pitchFamily="34" charset="-122"/>
                <a:cs typeface="DM Sans" pitchFamily="34" charset="-120"/>
              </a:rPr>
              <a:t>Inntil videre</a:t>
            </a:r>
            <a:r>
              <a:rPr lang="en-US" sz="1600" dirty="0">
                <a:solidFill>
                  <a:srgbClr val="1F2A24"/>
                </a:solidFill>
                <a:latin typeface="DM Sans" pitchFamily="34" charset="0"/>
                <a:ea typeface="DM Sans" pitchFamily="34" charset="-122"/>
                <a:cs typeface="DM Sans" pitchFamily="34" charset="-120"/>
              </a:rPr>
              <a:t> ይምረጡ፣ ከዚያ ያረጋግጡ።</a:t>
            </a:r>
            <a:endParaRPr lang="en-US" sz="1600" dirty="0"/>
          </a:p>
        </p:txBody>
      </p:sp>
      <p:sp>
        <p:nvSpPr>
          <p:cNvPr id="15" name="Shape 11"/>
          <p:cNvSpPr/>
          <p:nvPr/>
        </p:nvSpPr>
        <p:spPr>
          <a:xfrm>
            <a:off x="4775200" y="3937000"/>
            <a:ext cx="6604000" cy="1905000"/>
          </a:xfrm>
          <a:prstGeom prst="roundRect">
            <a:avLst>
              <a:gd name="adj" fmla="val 4000"/>
            </a:avLst>
          </a:prstGeom>
          <a:solidFill>
            <a:srgbClr val="FFFFFF"/>
          </a:solidFill>
          <a:ln/>
        </p:spPr>
      </p:sp>
      <p:pic>
        <p:nvPicPr>
          <p:cNvPr id="16" name="Image 2" descr="Opprett fast betaling, Månedlig, Inntil videre">    </p:cNvPr>
          <p:cNvPicPr>
            <a:picLocks noChangeAspect="1"/>
          </p:cNvPicPr>
          <p:nvPr/>
        </p:nvPicPr>
        <p:blipFill>
          <a:blip r:embed="rId3"/>
          <a:srcRect l="-207" r="-207" t="0" b="0"/>
          <a:stretch/>
        </p:blipFill>
        <p:spPr>
          <a:xfrm>
            <a:off x="4781550" y="3943350"/>
            <a:ext cx="6591300" cy="1892300"/>
          </a:xfrm>
          <a:prstGeom prst="roundRect">
            <a:avLst>
              <a:gd name="adj" fmla="val 3691"/>
            </a:avLst>
          </a:prstGeom>
        </p:spPr>
      </p:pic>
      <p:sp>
        <p:nvSpPr>
          <p:cNvPr id="17" name="Shape 12"/>
          <p:cNvSpPr/>
          <p:nvPr/>
        </p:nvSpPr>
        <p:spPr>
          <a:xfrm>
            <a:off x="4778375" y="3940175"/>
            <a:ext cx="6597650" cy="1898650"/>
          </a:xfrm>
          <a:prstGeom prst="roundRect">
            <a:avLst>
              <a:gd name="adj" fmla="val 3846"/>
            </a:avLst>
          </a:prstGeom>
          <a:noFill/>
          <a:ln w="6350">
            <a:solidFill>
              <a:srgbClr val="E3DCCB"/>
            </a:solidFill>
            <a:prstDash val="solid"/>
          </a:ln>
        </p:spPr>
      </p:sp>
      <p:sp>
        <p:nvSpPr>
          <p:cNvPr id="18"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2"/>
                </a:solidFill>
                <a:latin typeface="DM Sans" pitchFamily="34" charset="0"/>
                <a:ea typeface="DM Sans" pitchFamily="34" charset="-122"/>
                <a:cs typeface="DM Sans" pitchFamily="34" charset="-120"/>
              </a:rPr>
              <a:t>Til konto: </a:t>
            </a:r>
            <a:r>
              <a:rPr lang="en-US" sz="1200" b="1" dirty="0">
                <a:solidFill>
                  <a:srgbClr val="5B6B62"/>
                </a:solidFill>
                <a:latin typeface="DM Sans" pitchFamily="34" charset="0"/>
                <a:ea typeface="DM Sans" pitchFamily="34" charset="-122"/>
                <a:cs typeface="DM Sans" pitchFamily="34" charset="-120"/>
              </a:rPr>
              <a:t>3201 10 52249</a:t>
            </a:r>
            <a:r>
              <a:rPr lang="en-US" sz="1200" dirty="0">
                <a:solidFill>
                  <a:srgbClr val="5B6B62"/>
                </a:solidFill>
                <a:latin typeface="DM Sans" pitchFamily="34" charset="0"/>
                <a:ea typeface="DM Sans" pitchFamily="34" charset="-122"/>
                <a:cs typeface="DM Sans" pitchFamily="34" charset="-120"/>
              </a:rPr>
              <a:t> · Melding: </a:t>
            </a:r>
            <a:r>
              <a:rPr lang="en-US" sz="1200" b="1" dirty="0">
                <a:solidFill>
                  <a:srgbClr val="5B6B62"/>
                </a:solidFill>
                <a:latin typeface="DM Sans" pitchFamily="34" charset="0"/>
                <a:ea typeface="DM Sans" pitchFamily="34" charset="-122"/>
                <a:cs typeface="DM Sans" pitchFamily="34" charset="-120"/>
              </a:rPr>
              <a:t>Medlemskontingent – ሙሉ ስምዎ</a:t>
            </a:r>
            <a:r>
              <a:rPr lang="en-US" sz="1200" dirty="0">
                <a:solidFill>
                  <a:srgbClr val="5B6B62"/>
                </a:solidFill>
                <a:latin typeface="DM Sans" pitchFamily="34" charset="0"/>
                <a:ea typeface="DM Sans" pitchFamily="34" charset="-122"/>
                <a:cs typeface="DM Sans" pitchFamily="34" charset="-120"/>
              </a:rPr>
              <a:t> · </a:t>
            </a:r>
            <a:r>
              <a:rPr lang="en-US" sz="1200" b="1" dirty="0">
                <a:solidFill>
                  <a:srgbClr val="5B6B62"/>
                </a:solidFill>
                <a:latin typeface="DM Sans" pitchFamily="34" charset="0"/>
                <a:ea typeface="DM Sans" pitchFamily="34" charset="-122"/>
                <a:cs typeface="DM Sans" pitchFamily="34" charset="-120"/>
              </a:rPr>
              <a:t>Månedlig</a:t>
            </a:r>
            <a:endParaRPr lang="en-US" sz="1200" dirty="0"/>
          </a:p>
        </p:txBody>
      </p:sp>
      <p:pic>
        <p:nvPicPr>
          <p:cNvPr id="19" name="Image 3" descr="images (1).jpeg">    </p:cNvPr>
          <p:cNvPicPr>
            <a:picLocks noChangeAspect="1"/>
          </p:cNvPicPr>
          <p:nvPr/>
        </p:nvPicPr>
        <p:blipFill>
          <a:blip r:embed="rId4"/>
          <a:srcRect l="0" r="0" t="40711" b="40711"/>
          <a:stretch/>
        </p:blipFill>
        <p:spPr>
          <a:xfrm>
            <a:off x="7433072" y="79722"/>
            <a:ext cx="3946128" cy="7330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3A2B"/>
                </a:solidFill>
                <a:latin typeface="DM Sans" pitchFamily="34" charset="0"/>
                <a:ea typeface="DM Sans" pitchFamily="34" charset="-122"/>
                <a:cs typeface="DM Sans" pitchFamily="34" charset="-120"/>
              </a:rPr>
              <a:t>Sparebanken Norge (tidl. Vest) · app</a:t>
            </a:r>
            <a:endParaRPr lang="en-US" sz="2800" dirty="0"/>
          </a:p>
        </p:txBody>
      </p:sp>
      <p:sp>
        <p:nvSpPr>
          <p:cNvPr id="3" name="Text 1"/>
          <p:cNvSpPr/>
          <p:nvPr/>
        </p:nvSpPr>
        <p:spPr>
          <a:xfrm>
            <a:off x="812800" y="13055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1</a:t>
            </a:r>
            <a:endParaRPr lang="en-US" sz="1400" dirty="0"/>
          </a:p>
        </p:txBody>
      </p:sp>
      <p:sp>
        <p:nvSpPr>
          <p:cNvPr id="4" name="Text 2"/>
          <p:cNvSpPr/>
          <p:nvPr/>
        </p:nvSpPr>
        <p:spPr>
          <a:xfrm>
            <a:off x="1270000" y="1305520"/>
            <a:ext cx="261620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ከታች </a:t>
            </a:r>
            <a:r>
              <a:rPr lang="en-US" sz="1600" b="1" dirty="0">
                <a:solidFill>
                  <a:srgbClr val="1F2A24"/>
                </a:solidFill>
                <a:latin typeface="DM Sans" pitchFamily="34" charset="0"/>
                <a:ea typeface="DM Sans" pitchFamily="34" charset="-122"/>
                <a:cs typeface="DM Sans" pitchFamily="34" charset="-120"/>
              </a:rPr>
              <a:t>Mer</a:t>
            </a:r>
            <a:r>
              <a:rPr lang="en-US" sz="1600" dirty="0">
                <a:solidFill>
                  <a:srgbClr val="1F2A24"/>
                </a:solidFill>
                <a:latin typeface="DM Sans" pitchFamily="34" charset="0"/>
                <a:ea typeface="DM Sans" pitchFamily="34" charset="-122"/>
                <a:cs typeface="DM Sans" pitchFamily="34" charset="-120"/>
              </a:rPr>
              <a:t> ይጫኑ።</a:t>
            </a:r>
            <a:endParaRPr lang="en-US" sz="1600" dirty="0"/>
          </a:p>
        </p:txBody>
      </p:sp>
      <p:pic>
        <p:nvPicPr>
          <p:cNvPr id="5" name="Image 0" descr="Mer i menylinjen">    </p:cNvPr>
          <p:cNvPicPr>
            <a:picLocks noChangeAspect="1"/>
          </p:cNvPicPr>
          <p:nvPr/>
        </p:nvPicPr>
        <p:blipFill>
          <a:blip r:embed="rId1"/>
          <a:stretch>
            <a:fillRect/>
          </a:stretch>
        </p:blipFill>
        <p:spPr>
          <a:xfrm>
            <a:off x="1300950" y="1626791"/>
            <a:ext cx="2478101" cy="457200"/>
          </a:xfrm>
          <a:custGeom>
            <a:avLst/>
            <a:gdLst/>
            <a:ahLst/>
            <a:cxnLst/>
            <a:rect l="l" t="t" r="r" b="b"/>
            <a:pathLst>
              <a:path w="2478101" h="457200">
                <a:moveTo>
                  <a:pt x="0" y="16639"/>
                </a:moveTo>
                <a:arcTo wR="69850" hR="69850" stAng="13777341" swAng="2422659"/>
                <a:lnTo>
                  <a:pt x="2432850" y="0"/>
                </a:lnTo>
                <a:arcTo wR="69850" hR="69850" stAng="16200000" swAng="2422659"/>
                <a:lnTo>
                  <a:pt x="2478101" y="440561"/>
                </a:lnTo>
                <a:arcTo wR="69850" hR="69850" stAng="2977341" swAng="2422659"/>
                <a:lnTo>
                  <a:pt x="45250" y="457200"/>
                </a:lnTo>
                <a:arcTo wR="69850" hR="69850" stAng="5400000" swAng="2422659"/>
                <a:close/>
              </a:path>
            </a:pathLst>
          </a:custGeom>
        </p:spPr>
      </p:pic>
      <p:sp>
        <p:nvSpPr>
          <p:cNvPr id="6" name="Shape 3"/>
          <p:cNvSpPr/>
          <p:nvPr/>
        </p:nvSpPr>
        <p:spPr>
          <a:xfrm>
            <a:off x="1273175" y="1623616"/>
            <a:ext cx="2533650" cy="463550"/>
          </a:xfrm>
          <a:prstGeom prst="roundRect">
            <a:avLst>
              <a:gd name="adj" fmla="val 15753"/>
            </a:avLst>
          </a:prstGeom>
          <a:noFill/>
          <a:ln w="6350">
            <a:solidFill>
              <a:srgbClr val="E3DCCB"/>
            </a:solidFill>
            <a:prstDash val="solid"/>
          </a:ln>
        </p:spPr>
      </p:sp>
      <p:sp>
        <p:nvSpPr>
          <p:cNvPr id="7" name="Text 4"/>
          <p:cNvSpPr/>
          <p:nvPr/>
        </p:nvSpPr>
        <p:spPr>
          <a:xfrm>
            <a:off x="812800" y="2196455"/>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2</a:t>
            </a:r>
            <a:endParaRPr lang="en-US" sz="1400" dirty="0"/>
          </a:p>
        </p:txBody>
      </p:sp>
      <p:sp>
        <p:nvSpPr>
          <p:cNvPr id="8" name="Text 5"/>
          <p:cNvSpPr/>
          <p:nvPr/>
        </p:nvSpPr>
        <p:spPr>
          <a:xfrm>
            <a:off x="1270000" y="2196455"/>
            <a:ext cx="548253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ከ </a:t>
            </a:r>
            <a:r>
              <a:rPr lang="en-US" sz="1600" b="1" dirty="0">
                <a:solidFill>
                  <a:srgbClr val="1F2A24"/>
                </a:solidFill>
                <a:latin typeface="DM Sans" pitchFamily="34" charset="0"/>
                <a:ea typeface="DM Sans" pitchFamily="34" charset="-122"/>
                <a:cs typeface="DM Sans" pitchFamily="34" charset="-120"/>
              </a:rPr>
              <a:t>Betale</a:t>
            </a:r>
            <a:r>
              <a:rPr lang="en-US" sz="1600" dirty="0">
                <a:solidFill>
                  <a:srgbClr val="1F2A24"/>
                </a:solidFill>
                <a:latin typeface="DM Sans" pitchFamily="34" charset="0"/>
                <a:ea typeface="DM Sans" pitchFamily="34" charset="-122"/>
                <a:cs typeface="DM Sans" pitchFamily="34" charset="-120"/>
              </a:rPr>
              <a:t> አጠገብ ያሉትን ሶስት ነጥቦች (</a:t>
            </a:r>
            <a:r>
              <a:rPr lang="en-US" sz="1600" b="1" dirty="0">
                <a:solidFill>
                  <a:srgbClr val="1F2A24"/>
                </a:solidFill>
                <a:latin typeface="DM Sans" pitchFamily="34" charset="0"/>
                <a:ea typeface="DM Sans" pitchFamily="34" charset="-122"/>
                <a:cs typeface="DM Sans" pitchFamily="34" charset="-120"/>
              </a:rPr>
              <a:t>•••</a:t>
            </a:r>
            <a:r>
              <a:rPr lang="en-US" sz="1600" dirty="0">
                <a:solidFill>
                  <a:srgbClr val="1F2A24"/>
                </a:solidFill>
                <a:latin typeface="DM Sans" pitchFamily="34" charset="0"/>
                <a:ea typeface="DM Sans" pitchFamily="34" charset="-122"/>
                <a:cs typeface="DM Sans" pitchFamily="34" charset="-120"/>
              </a:rPr>
              <a:t>) ይጫኑ።</a:t>
            </a:r>
            <a:endParaRPr lang="en-US" sz="1600" dirty="0"/>
          </a:p>
        </p:txBody>
      </p:sp>
      <p:pic>
        <p:nvPicPr>
          <p:cNvPr id="9" name="Image 1" descr="Betale med tre prikker">    </p:cNvPr>
          <p:cNvPicPr>
            <a:picLocks noChangeAspect="1"/>
          </p:cNvPicPr>
          <p:nvPr/>
        </p:nvPicPr>
        <p:blipFill>
          <a:blip r:embed="rId2"/>
          <a:stretch>
            <a:fillRect/>
          </a:stretch>
        </p:blipFill>
        <p:spPr>
          <a:xfrm>
            <a:off x="1319412" y="2517725"/>
            <a:ext cx="2441175" cy="285750"/>
          </a:xfrm>
          <a:custGeom>
            <a:avLst/>
            <a:gdLst/>
            <a:ahLst/>
            <a:cxnLst/>
            <a:rect l="l" t="t" r="r" b="b"/>
            <a:pathLst>
              <a:path w="2441175" h="285750">
                <a:moveTo>
                  <a:pt x="0" y="5341"/>
                </a:moveTo>
                <a:arcTo wR="69850" hR="69850" stAng="14846946" swAng="1353054"/>
                <a:lnTo>
                  <a:pt x="2414388" y="0"/>
                </a:lnTo>
                <a:arcTo wR="69850" hR="69850" stAng="16200000" swAng="1353054"/>
                <a:lnTo>
                  <a:pt x="2441175" y="280409"/>
                </a:lnTo>
                <a:arcTo wR="69850" hR="69850" stAng="4046946" swAng="1353054"/>
                <a:lnTo>
                  <a:pt x="26788" y="285750"/>
                </a:lnTo>
                <a:arcTo wR="69850" hR="69850" stAng="5400000" swAng="1353054"/>
                <a:close/>
              </a:path>
            </a:pathLst>
          </a:custGeom>
        </p:spPr>
      </p:pic>
      <p:sp>
        <p:nvSpPr>
          <p:cNvPr id="10" name="Shape 6"/>
          <p:cNvSpPr/>
          <p:nvPr/>
        </p:nvSpPr>
        <p:spPr>
          <a:xfrm>
            <a:off x="1273175" y="2514550"/>
            <a:ext cx="2533650" cy="292100"/>
          </a:xfrm>
          <a:prstGeom prst="roundRect">
            <a:avLst>
              <a:gd name="adj" fmla="val 25000"/>
            </a:avLst>
          </a:prstGeom>
          <a:noFill/>
          <a:ln w="6350">
            <a:solidFill>
              <a:srgbClr val="E3DCCB"/>
            </a:solidFill>
            <a:prstDash val="solid"/>
          </a:ln>
        </p:spPr>
      </p:sp>
      <p:sp>
        <p:nvSpPr>
          <p:cNvPr id="11" name="Text 7"/>
          <p:cNvSpPr/>
          <p:nvPr/>
        </p:nvSpPr>
        <p:spPr>
          <a:xfrm>
            <a:off x="812800" y="291594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3</a:t>
            </a:r>
            <a:endParaRPr lang="en-US" sz="1400" dirty="0"/>
          </a:p>
        </p:txBody>
      </p:sp>
      <p:sp>
        <p:nvSpPr>
          <p:cNvPr id="12" name="Text 8"/>
          <p:cNvSpPr/>
          <p:nvPr/>
        </p:nvSpPr>
        <p:spPr>
          <a:xfrm>
            <a:off x="1270000" y="2915940"/>
            <a:ext cx="6634877"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Faste oppdrag</a:t>
            </a:r>
            <a:r>
              <a:rPr lang="en-US" sz="1600" dirty="0">
                <a:solidFill>
                  <a:srgbClr val="1F2A24"/>
                </a:solidFill>
                <a:latin typeface="DM Sans" pitchFamily="34" charset="0"/>
                <a:ea typeface="DM Sans" pitchFamily="34" charset="-122"/>
                <a:cs typeface="DM Sans" pitchFamily="34" charset="-120"/>
              </a:rPr>
              <a:t> ይምረጡ፣ ከዚያ አዲስ </a:t>
            </a:r>
            <a:r>
              <a:rPr lang="en-US" sz="1600" b="1" dirty="0">
                <a:solidFill>
                  <a:srgbClr val="1F2A24"/>
                </a:solidFill>
                <a:latin typeface="DM Sans" pitchFamily="34" charset="0"/>
                <a:ea typeface="DM Sans" pitchFamily="34" charset="-122"/>
                <a:cs typeface="DM Sans" pitchFamily="34" charset="-120"/>
              </a:rPr>
              <a:t>Fast betaling</a:t>
            </a:r>
            <a:r>
              <a:rPr lang="en-US" sz="1600" dirty="0">
                <a:solidFill>
                  <a:srgbClr val="1F2A24"/>
                </a:solidFill>
                <a:latin typeface="DM Sans" pitchFamily="34" charset="0"/>
                <a:ea typeface="DM Sans" pitchFamily="34" charset="-122"/>
                <a:cs typeface="DM Sans" pitchFamily="34" charset="-120"/>
              </a:rPr>
              <a:t> ይፍጠሩ።</a:t>
            </a:r>
            <a:endParaRPr lang="en-US" sz="1600" dirty="0"/>
          </a:p>
        </p:txBody>
      </p:sp>
      <p:pic>
        <p:nvPicPr>
          <p:cNvPr id="13" name="Image 2" descr="Flere valg: Faste oppdrag">    </p:cNvPr>
          <p:cNvPicPr>
            <a:picLocks noChangeAspect="1"/>
          </p:cNvPicPr>
          <p:nvPr/>
        </p:nvPicPr>
        <p:blipFill>
          <a:blip r:embed="rId3"/>
          <a:srcRect l="-156" r="-156" t="0" b="0"/>
          <a:stretch/>
        </p:blipFill>
        <p:spPr>
          <a:xfrm>
            <a:off x="1276350" y="3237210"/>
            <a:ext cx="2527300" cy="1187450"/>
          </a:xfrm>
          <a:prstGeom prst="roundRect">
            <a:avLst>
              <a:gd name="adj" fmla="val 5882"/>
            </a:avLst>
          </a:prstGeom>
        </p:spPr>
      </p:pic>
      <p:sp>
        <p:nvSpPr>
          <p:cNvPr id="14" name="Shape 9"/>
          <p:cNvSpPr/>
          <p:nvPr/>
        </p:nvSpPr>
        <p:spPr>
          <a:xfrm>
            <a:off x="1273175" y="3234035"/>
            <a:ext cx="2533650" cy="1193800"/>
          </a:xfrm>
          <a:prstGeom prst="roundRect">
            <a:avLst>
              <a:gd name="adj" fmla="val 6117"/>
            </a:avLst>
          </a:prstGeom>
          <a:noFill/>
          <a:ln w="6350">
            <a:solidFill>
              <a:srgbClr val="E3DCCB"/>
            </a:solidFill>
            <a:prstDash val="solid"/>
          </a:ln>
        </p:spPr>
      </p:sp>
      <p:sp>
        <p:nvSpPr>
          <p:cNvPr id="15" name="Text 10"/>
          <p:cNvSpPr/>
          <p:nvPr/>
        </p:nvSpPr>
        <p:spPr>
          <a:xfrm>
            <a:off x="812800" y="4537125"/>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C8962E"/>
          </a:solidFill>
          <a:ln/>
        </p:spPr>
        <p:txBody>
          <a:bodyPr wrap="square" lIns="0" tIns="0" rIns="0" bIns="0" rtlCol="0" anchor="ctr">
            <a:normAutofit/>
          </a:bodyPr>
          <a:lstStyle/>
          <a:p>
            <a:pPr algn="ctr" indent="0" marL="0">
              <a:lnSpc>
                <a:spcPts val="1960"/>
              </a:lnSpc>
              <a:buNone/>
            </a:pPr>
            <a:r>
              <a:rPr lang="en-US" sz="1400" b="1" dirty="0">
                <a:solidFill>
                  <a:srgbClr val="1F2A24"/>
                </a:solidFill>
                <a:latin typeface="DM Sans" pitchFamily="34" charset="0"/>
                <a:ea typeface="DM Sans" pitchFamily="34" charset="-122"/>
                <a:cs typeface="DM Sans" pitchFamily="34" charset="-120"/>
              </a:rPr>
              <a:t>4</a:t>
            </a:r>
            <a:endParaRPr lang="en-US" sz="1400" dirty="0"/>
          </a:p>
        </p:txBody>
      </p:sp>
      <p:sp>
        <p:nvSpPr>
          <p:cNvPr id="16" name="Text 11"/>
          <p:cNvSpPr/>
          <p:nvPr/>
        </p:nvSpPr>
        <p:spPr>
          <a:xfrm>
            <a:off x="1270000" y="4537125"/>
            <a:ext cx="6880606"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Til konto</a:t>
            </a:r>
            <a:r>
              <a:rPr lang="en-US" sz="1600" dirty="0">
                <a:solidFill>
                  <a:srgbClr val="1F2A24"/>
                </a:solidFill>
                <a:latin typeface="DM Sans" pitchFamily="34" charset="0"/>
                <a:ea typeface="DM Sans" pitchFamily="34" charset="-122"/>
                <a:cs typeface="DM Sans" pitchFamily="34" charset="-120"/>
              </a:rPr>
              <a:t>፦ 3201.10.52249፣ መጠን እና ቀን፣ </a:t>
            </a:r>
            <a:r>
              <a:rPr lang="en-US" sz="1600" b="1" dirty="0">
                <a:solidFill>
                  <a:srgbClr val="1F2A24"/>
                </a:solidFill>
                <a:latin typeface="DM Sans" pitchFamily="34" charset="0"/>
                <a:ea typeface="DM Sans" pitchFamily="34" charset="-122"/>
                <a:cs typeface="DM Sans" pitchFamily="34" charset="-120"/>
              </a:rPr>
              <a:t>Månedlig</a:t>
            </a:r>
            <a:r>
              <a:rPr lang="en-US" sz="1600" dirty="0">
                <a:solidFill>
                  <a:srgbClr val="1F2A24"/>
                </a:solidFill>
                <a:latin typeface="DM Sans" pitchFamily="34" charset="0"/>
                <a:ea typeface="DM Sans" pitchFamily="34" charset="-122"/>
                <a:cs typeface="DM Sans" pitchFamily="34" charset="-120"/>
              </a:rPr>
              <a:t>፣ በ </a:t>
            </a:r>
            <a:r>
              <a:rPr lang="en-US" sz="1600" b="1" dirty="0">
                <a:solidFill>
                  <a:srgbClr val="1F2A24"/>
                </a:solidFill>
                <a:latin typeface="DM Sans" pitchFamily="34" charset="0"/>
                <a:ea typeface="DM Sans" pitchFamily="34" charset="-122"/>
                <a:cs typeface="DM Sans" pitchFamily="34" charset="-120"/>
              </a:rPr>
              <a:t>KID eller melding</a:t>
            </a:r>
            <a:r>
              <a:rPr lang="en-US" sz="1600" dirty="0">
                <a:solidFill>
                  <a:srgbClr val="1F2A24"/>
                </a:solidFill>
                <a:latin typeface="DM Sans" pitchFamily="34" charset="0"/>
                <a:ea typeface="DM Sans" pitchFamily="34" charset="-122"/>
                <a:cs typeface="DM Sans" pitchFamily="34" charset="-120"/>
              </a:rPr>
              <a:t> ሙሉ ስምዎ። →</a:t>
            </a:r>
            <a:endParaRPr lang="en-US" sz="1600" dirty="0"/>
          </a:p>
        </p:txBody>
      </p:sp>
      <p:sp>
        <p:nvSpPr>
          <p:cNvPr id="17" name="Text 12"/>
          <p:cNvSpPr/>
          <p:nvPr/>
        </p:nvSpPr>
        <p:spPr>
          <a:xfrm>
            <a:off x="812800" y="517148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5</a:t>
            </a:r>
            <a:endParaRPr lang="en-US" sz="1400" dirty="0"/>
          </a:p>
        </p:txBody>
      </p:sp>
      <p:sp>
        <p:nvSpPr>
          <p:cNvPr id="18" name="Text 13"/>
          <p:cNvSpPr/>
          <p:nvPr/>
        </p:nvSpPr>
        <p:spPr>
          <a:xfrm>
            <a:off x="1270000" y="5171480"/>
            <a:ext cx="3048000"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Neste</a:t>
            </a:r>
            <a:r>
              <a:rPr lang="en-US" sz="1600" dirty="0">
                <a:solidFill>
                  <a:srgbClr val="1F2A24"/>
                </a:solidFill>
                <a:latin typeface="DM Sans" pitchFamily="34" charset="0"/>
                <a:ea typeface="DM Sans" pitchFamily="34" charset="-122"/>
                <a:cs typeface="DM Sans" pitchFamily="34" charset="-120"/>
              </a:rPr>
              <a:t> ይጫኑ እና ያረጋግጡ።</a:t>
            </a:r>
            <a:endParaRPr lang="en-US" sz="1600" dirty="0"/>
          </a:p>
        </p:txBody>
      </p:sp>
      <p:pic>
        <p:nvPicPr>
          <p:cNvPr id="19" name="Image 3" descr="Neste">    </p:cNvPr>
          <p:cNvPicPr>
            <a:picLocks noChangeAspect="1"/>
          </p:cNvPicPr>
          <p:nvPr/>
        </p:nvPicPr>
        <p:blipFill>
          <a:blip r:embed="rId4"/>
          <a:stretch>
            <a:fillRect/>
          </a:stretch>
        </p:blipFill>
        <p:spPr>
          <a:xfrm>
            <a:off x="1318064" y="5492750"/>
            <a:ext cx="2443873" cy="342900"/>
          </a:xfrm>
          <a:custGeom>
            <a:avLst/>
            <a:gdLst/>
            <a:ahLst/>
            <a:cxnLst/>
            <a:rect l="l" t="t" r="r" b="b"/>
            <a:pathLst>
              <a:path w="2443873" h="342900">
                <a:moveTo>
                  <a:pt x="0" y="5918"/>
                </a:moveTo>
                <a:arcTo wR="69850" hR="69850" stAng="14774752" swAng="1425248"/>
                <a:lnTo>
                  <a:pt x="2415736" y="0"/>
                </a:lnTo>
                <a:arcTo wR="69850" hR="69850" stAng="16200000" swAng="1425248"/>
                <a:lnTo>
                  <a:pt x="2443873" y="336982"/>
                </a:lnTo>
                <a:arcTo wR="69850" hR="69850" stAng="3974752" swAng="1425248"/>
                <a:lnTo>
                  <a:pt x="28136" y="342900"/>
                </a:lnTo>
                <a:arcTo wR="69850" hR="69850" stAng="5400000" swAng="1425248"/>
                <a:close/>
              </a:path>
            </a:pathLst>
          </a:custGeom>
        </p:spPr>
      </p:pic>
      <p:sp>
        <p:nvSpPr>
          <p:cNvPr id="20" name="Shape 14"/>
          <p:cNvSpPr/>
          <p:nvPr/>
        </p:nvSpPr>
        <p:spPr>
          <a:xfrm>
            <a:off x="1273175" y="5489575"/>
            <a:ext cx="2533650" cy="349250"/>
          </a:xfrm>
          <a:prstGeom prst="roundRect">
            <a:avLst>
              <a:gd name="adj" fmla="val 20909"/>
            </a:avLst>
          </a:prstGeom>
          <a:noFill/>
          <a:ln w="6350">
            <a:solidFill>
              <a:srgbClr val="E3DCCB"/>
            </a:solidFill>
            <a:prstDash val="solid"/>
          </a:ln>
        </p:spPr>
      </p:sp>
      <p:sp>
        <p:nvSpPr>
          <p:cNvPr id="21" name="Shape 15"/>
          <p:cNvSpPr/>
          <p:nvPr/>
        </p:nvSpPr>
        <p:spPr>
          <a:xfrm>
            <a:off x="8305800" y="1305520"/>
            <a:ext cx="3073400" cy="4533900"/>
          </a:xfrm>
          <a:prstGeom prst="roundRect">
            <a:avLst>
              <a:gd name="adj" fmla="val 3306"/>
            </a:avLst>
          </a:prstGeom>
          <a:solidFill>
            <a:srgbClr val="FFFFFF"/>
          </a:solidFill>
          <a:ln/>
        </p:spPr>
      </p:sp>
      <p:pic>
        <p:nvPicPr>
          <p:cNvPr id="22" name="Image 4" descr="Skjema for fast betaling i Sparebanken Norge-appen">    </p:cNvPr>
          <p:cNvPicPr>
            <a:picLocks noChangeAspect="1"/>
          </p:cNvPicPr>
          <p:nvPr/>
        </p:nvPicPr>
        <p:blipFill>
          <a:blip r:embed="rId5"/>
          <a:srcRect l="0" r="0" t="-120" b="-120"/>
          <a:stretch/>
        </p:blipFill>
        <p:spPr>
          <a:xfrm>
            <a:off x="8312150" y="1311870"/>
            <a:ext cx="3060700" cy="4521200"/>
          </a:xfrm>
          <a:prstGeom prst="roundRect">
            <a:avLst>
              <a:gd name="adj" fmla="val 3112"/>
            </a:avLst>
          </a:prstGeom>
        </p:spPr>
      </p:pic>
      <p:sp>
        <p:nvSpPr>
          <p:cNvPr id="23" name="Shape 16"/>
          <p:cNvSpPr/>
          <p:nvPr/>
        </p:nvSpPr>
        <p:spPr>
          <a:xfrm>
            <a:off x="8308975" y="1308695"/>
            <a:ext cx="3067050" cy="4527550"/>
          </a:xfrm>
          <a:prstGeom prst="roundRect">
            <a:avLst>
              <a:gd name="adj" fmla="val 3209"/>
            </a:avLst>
          </a:prstGeom>
          <a:noFill/>
          <a:ln w="6350">
            <a:solidFill>
              <a:srgbClr val="E3DCCB"/>
            </a:solidFill>
            <a:prstDash val="solid"/>
          </a:ln>
        </p:spPr>
      </p:sp>
      <p:sp>
        <p:nvSpPr>
          <p:cNvPr id="24" name="Text 1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2"/>
                </a:solidFill>
                <a:latin typeface="DM Sans" pitchFamily="34" charset="0"/>
                <a:ea typeface="DM Sans" pitchFamily="34" charset="-122"/>
                <a:cs typeface="DM Sans" pitchFamily="34" charset="-120"/>
              </a:rPr>
              <a:t>Til konto: </a:t>
            </a:r>
            <a:r>
              <a:rPr lang="en-US" sz="1200" b="1" dirty="0">
                <a:solidFill>
                  <a:srgbClr val="5B6B62"/>
                </a:solidFill>
                <a:latin typeface="DM Sans" pitchFamily="34" charset="0"/>
                <a:ea typeface="DM Sans" pitchFamily="34" charset="-122"/>
                <a:cs typeface="DM Sans" pitchFamily="34" charset="-120"/>
              </a:rPr>
              <a:t>3201 10 52249</a:t>
            </a:r>
            <a:r>
              <a:rPr lang="en-US" sz="1200" dirty="0">
                <a:solidFill>
                  <a:srgbClr val="5B6B62"/>
                </a:solidFill>
                <a:latin typeface="DM Sans" pitchFamily="34" charset="0"/>
                <a:ea typeface="DM Sans" pitchFamily="34" charset="-122"/>
                <a:cs typeface="DM Sans" pitchFamily="34" charset="-120"/>
              </a:rPr>
              <a:t> · Melding: </a:t>
            </a:r>
            <a:r>
              <a:rPr lang="en-US" sz="1200" b="1" dirty="0">
                <a:solidFill>
                  <a:srgbClr val="5B6B62"/>
                </a:solidFill>
                <a:latin typeface="DM Sans" pitchFamily="34" charset="0"/>
                <a:ea typeface="DM Sans" pitchFamily="34" charset="-122"/>
                <a:cs typeface="DM Sans" pitchFamily="34" charset="-120"/>
              </a:rPr>
              <a:t>Medlemskontingent – ሙሉ ስምዎ</a:t>
            </a:r>
            <a:r>
              <a:rPr lang="en-US" sz="1200" dirty="0">
                <a:solidFill>
                  <a:srgbClr val="5B6B62"/>
                </a:solidFill>
                <a:latin typeface="DM Sans" pitchFamily="34" charset="0"/>
                <a:ea typeface="DM Sans" pitchFamily="34" charset="-122"/>
                <a:cs typeface="DM Sans" pitchFamily="34" charset="-120"/>
              </a:rPr>
              <a:t> · </a:t>
            </a:r>
            <a:r>
              <a:rPr lang="en-US" sz="1200" b="1" dirty="0">
                <a:solidFill>
                  <a:srgbClr val="5B6B62"/>
                </a:solidFill>
                <a:latin typeface="DM Sans" pitchFamily="34" charset="0"/>
                <a:ea typeface="DM Sans" pitchFamily="34" charset="-122"/>
                <a:cs typeface="DM Sans" pitchFamily="34" charset="-120"/>
              </a:rPr>
              <a:t>Månedlig</a:t>
            </a:r>
            <a:endParaRPr lang="en-US" sz="1200" dirty="0"/>
          </a:p>
        </p:txBody>
      </p:sp>
      <p:pic>
        <p:nvPicPr>
          <p:cNvPr id="25" name="Image 5" descr="SBNorge-logo-main.svg">    </p:cNvPr>
          <p:cNvPicPr>
            <a:picLocks noChangeAspect="1"/>
          </p:cNvPicPr>
          <p:nvPr/>
        </p:nvPicPr>
        <p:blipFill>
          <a:blip r:embed="rId6"/>
          <a:srcRect l="182" r="182" t="0" b="0"/>
          <a:stretch/>
        </p:blipFill>
        <p:spPr>
          <a:xfrm>
            <a:off x="7757319" y="214709"/>
            <a:ext cx="4064000" cy="8699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E3A2B"/>
                </a:solidFill>
                <a:latin typeface="DM Sans" pitchFamily="34" charset="0"/>
                <a:ea typeface="DM Sans" pitchFamily="34" charset="-122"/>
                <a:cs typeface="DM Sans" pitchFamily="34" charset="-120"/>
              </a:rPr>
              <a:t>DNB · nettbank</a:t>
            </a:r>
            <a:endParaRPr lang="en-US" sz="2800" dirty="0"/>
          </a:p>
        </p:txBody>
      </p:sp>
      <p:sp>
        <p:nvSpPr>
          <p:cNvPr id="3" name="Text 1"/>
          <p:cNvSpPr/>
          <p:nvPr/>
        </p:nvSpPr>
        <p:spPr>
          <a:xfrm>
            <a:off x="812800" y="13055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1</a:t>
            </a:r>
            <a:endParaRPr lang="en-US" sz="1400" dirty="0"/>
          </a:p>
        </p:txBody>
      </p:sp>
      <p:sp>
        <p:nvSpPr>
          <p:cNvPr id="4" name="Text 2"/>
          <p:cNvSpPr/>
          <p:nvPr/>
        </p:nvSpPr>
        <p:spPr>
          <a:xfrm>
            <a:off x="1270000" y="1305520"/>
            <a:ext cx="313944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F2A24"/>
                </a:solidFill>
                <a:latin typeface="DM Sans" pitchFamily="34" charset="0"/>
                <a:ea typeface="DM Sans" pitchFamily="34" charset="-122"/>
                <a:cs typeface="DM Sans" pitchFamily="34" charset="-120"/>
              </a:rPr>
              <a:t>Dagligbank og lån</a:t>
            </a:r>
            <a:r>
              <a:rPr lang="en-US" sz="1600" dirty="0">
                <a:solidFill>
                  <a:srgbClr val="1F2A24"/>
                </a:solidFill>
                <a:latin typeface="DM Sans" pitchFamily="34" charset="0"/>
                <a:ea typeface="DM Sans" pitchFamily="34" charset="-122"/>
                <a:cs typeface="DM Sans" pitchFamily="34" charset="-120"/>
              </a:rPr>
              <a:t> → </a:t>
            </a:r>
            <a:r>
              <a:rPr lang="en-US" sz="1600" b="1" dirty="0">
                <a:solidFill>
                  <a:srgbClr val="1F2A24"/>
                </a:solidFill>
                <a:latin typeface="DM Sans" pitchFamily="34" charset="0"/>
                <a:ea typeface="DM Sans" pitchFamily="34" charset="-122"/>
                <a:cs typeface="DM Sans" pitchFamily="34" charset="-120"/>
              </a:rPr>
              <a:t>Betale og overføre</a:t>
            </a:r>
            <a:r>
              <a:rPr lang="en-US" sz="1600" dirty="0">
                <a:solidFill>
                  <a:srgbClr val="1F2A24"/>
                </a:solidFill>
                <a:latin typeface="DM Sans" pitchFamily="34" charset="0"/>
                <a:ea typeface="DM Sans" pitchFamily="34" charset="-122"/>
                <a:cs typeface="DM Sans" pitchFamily="34" charset="-120"/>
              </a:rPr>
              <a:t> → </a:t>
            </a:r>
            <a:r>
              <a:rPr lang="en-US" sz="1600" b="1" dirty="0">
                <a:solidFill>
                  <a:srgbClr val="1F2A24"/>
                </a:solidFill>
                <a:latin typeface="DM Sans" pitchFamily="34" charset="0"/>
                <a:ea typeface="DM Sans" pitchFamily="34" charset="-122"/>
                <a:cs typeface="DM Sans" pitchFamily="34" charset="-120"/>
              </a:rPr>
              <a:t>Faste oppdrag</a:t>
            </a:r>
            <a:endParaRPr lang="en-US" sz="1600" dirty="0"/>
          </a:p>
        </p:txBody>
      </p:sp>
      <p:sp>
        <p:nvSpPr>
          <p:cNvPr id="5" name="Shape 3"/>
          <p:cNvSpPr/>
          <p:nvPr/>
        </p:nvSpPr>
        <p:spPr>
          <a:xfrm>
            <a:off x="1270000" y="1884561"/>
            <a:ext cx="3048000" cy="3568700"/>
          </a:xfrm>
          <a:prstGeom prst="roundRect">
            <a:avLst>
              <a:gd name="adj" fmla="val 2500"/>
            </a:avLst>
          </a:prstGeom>
          <a:solidFill>
            <a:srgbClr val="FFFFFF"/>
          </a:solidFill>
          <a:ln/>
        </p:spPr>
      </p:sp>
      <p:pic>
        <p:nvPicPr>
          <p:cNvPr id="6" name="Image 0" descr="DNB-menyen: Faste oppdrag">    </p:cNvPr>
          <p:cNvPicPr>
            <a:picLocks noChangeAspect="1"/>
          </p:cNvPicPr>
          <p:nvPr/>
        </p:nvPicPr>
        <p:blipFill>
          <a:blip r:embed="rId1"/>
          <a:srcRect l="0" r="0" t="-32" b="-32"/>
          <a:stretch/>
        </p:blipFill>
        <p:spPr>
          <a:xfrm>
            <a:off x="1276350" y="1890911"/>
            <a:ext cx="3035300" cy="3556000"/>
          </a:xfrm>
          <a:prstGeom prst="roundRect">
            <a:avLst>
              <a:gd name="adj" fmla="val 2301"/>
            </a:avLst>
          </a:prstGeom>
        </p:spPr>
      </p:pic>
      <p:sp>
        <p:nvSpPr>
          <p:cNvPr id="7" name="Shape 4"/>
          <p:cNvSpPr/>
          <p:nvPr/>
        </p:nvSpPr>
        <p:spPr>
          <a:xfrm>
            <a:off x="1273175" y="1887736"/>
            <a:ext cx="3041650" cy="3562350"/>
          </a:xfrm>
          <a:prstGeom prst="roundRect">
            <a:avLst>
              <a:gd name="adj" fmla="val 2401"/>
            </a:avLst>
          </a:prstGeom>
          <a:noFill/>
          <a:ln w="6350">
            <a:solidFill>
              <a:srgbClr val="E3DCCB"/>
            </a:solidFill>
            <a:prstDash val="solid"/>
          </a:ln>
        </p:spPr>
      </p:sp>
      <p:sp>
        <p:nvSpPr>
          <p:cNvPr id="8" name="Text 5"/>
          <p:cNvSpPr/>
          <p:nvPr/>
        </p:nvSpPr>
        <p:spPr>
          <a:xfrm>
            <a:off x="4724400" y="130552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2</a:t>
            </a:r>
            <a:endParaRPr lang="en-US" sz="1400" dirty="0"/>
          </a:p>
        </p:txBody>
      </p:sp>
      <p:sp>
        <p:nvSpPr>
          <p:cNvPr id="9" name="Text 6"/>
          <p:cNvSpPr/>
          <p:nvPr/>
        </p:nvSpPr>
        <p:spPr>
          <a:xfrm>
            <a:off x="5181600" y="1305520"/>
            <a:ext cx="6383528"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ሂሳብዎን እና </a:t>
            </a:r>
            <a:r>
              <a:rPr lang="en-US" sz="1600" b="1" dirty="0">
                <a:solidFill>
                  <a:srgbClr val="1F2A24"/>
                </a:solidFill>
                <a:latin typeface="DM Sans" pitchFamily="34" charset="0"/>
                <a:ea typeface="DM Sans" pitchFamily="34" charset="-122"/>
                <a:cs typeface="DM Sans" pitchFamily="34" charset="-120"/>
              </a:rPr>
              <a:t>3201.10.52249</a:t>
            </a:r>
            <a:r>
              <a:rPr lang="en-US" sz="1600" dirty="0">
                <a:solidFill>
                  <a:srgbClr val="1F2A24"/>
                </a:solidFill>
                <a:latin typeface="DM Sans" pitchFamily="34" charset="0"/>
                <a:ea typeface="DM Sans" pitchFamily="34" charset="-122"/>
                <a:cs typeface="DM Sans" pitchFamily="34" charset="-120"/>
              </a:rPr>
              <a:t> ያስገቡ፣ በ </a:t>
            </a:r>
            <a:r>
              <a:rPr lang="en-US" sz="1600" b="1" dirty="0">
                <a:solidFill>
                  <a:srgbClr val="1F2A24"/>
                </a:solidFill>
                <a:latin typeface="DM Sans" pitchFamily="34" charset="0"/>
                <a:ea typeface="DM Sans" pitchFamily="34" charset="-122"/>
                <a:cs typeface="DM Sans" pitchFamily="34" charset="-120"/>
              </a:rPr>
              <a:t>KID/melding</a:t>
            </a:r>
            <a:r>
              <a:rPr lang="en-US" sz="1600" dirty="0">
                <a:solidFill>
                  <a:srgbClr val="1F2A24"/>
                </a:solidFill>
                <a:latin typeface="DM Sans" pitchFamily="34" charset="0"/>
                <a:ea typeface="DM Sans" pitchFamily="34" charset="-122"/>
                <a:cs typeface="DM Sans" pitchFamily="34" charset="-120"/>
              </a:rPr>
              <a:t> ስምዎን ይጻፉ፣ መጠኑን እና </a:t>
            </a:r>
            <a:r>
              <a:rPr lang="en-US" sz="1600" b="1" dirty="0">
                <a:solidFill>
                  <a:srgbClr val="1F2A24"/>
                </a:solidFill>
                <a:latin typeface="DM Sans" pitchFamily="34" charset="0"/>
                <a:ea typeface="DM Sans" pitchFamily="34" charset="-122"/>
                <a:cs typeface="DM Sans" pitchFamily="34" charset="-120"/>
              </a:rPr>
              <a:t>Månedlig</a:t>
            </a:r>
            <a:r>
              <a:rPr lang="en-US" sz="1600" dirty="0">
                <a:solidFill>
                  <a:srgbClr val="1F2A24"/>
                </a:solidFill>
                <a:latin typeface="DM Sans" pitchFamily="34" charset="0"/>
                <a:ea typeface="DM Sans" pitchFamily="34" charset="-122"/>
                <a:cs typeface="DM Sans" pitchFamily="34" charset="-120"/>
              </a:rPr>
              <a:t> ይምረጡ።</a:t>
            </a:r>
            <a:endParaRPr lang="en-US" sz="1600" dirty="0"/>
          </a:p>
        </p:txBody>
      </p:sp>
      <p:sp>
        <p:nvSpPr>
          <p:cNvPr id="10" name="Shape 7"/>
          <p:cNvSpPr/>
          <p:nvPr/>
        </p:nvSpPr>
        <p:spPr>
          <a:xfrm>
            <a:off x="5181600" y="1884561"/>
            <a:ext cx="4737100" cy="1905000"/>
          </a:xfrm>
          <a:prstGeom prst="roundRect">
            <a:avLst>
              <a:gd name="adj" fmla="val 4000"/>
            </a:avLst>
          </a:prstGeom>
          <a:solidFill>
            <a:srgbClr val="FFFFFF"/>
          </a:solidFill>
          <a:ln/>
        </p:spPr>
      </p:sp>
      <p:pic>
        <p:nvPicPr>
          <p:cNvPr id="11" name="Image 1" descr="Nytt fast oppdrag">    </p:cNvPr>
          <p:cNvPicPr>
            <a:picLocks noChangeAspect="1"/>
          </p:cNvPicPr>
          <p:nvPr/>
        </p:nvPicPr>
        <p:blipFill>
          <a:blip r:embed="rId2"/>
          <a:srcRect l="-169" r="-169" t="0" b="0"/>
          <a:stretch/>
        </p:blipFill>
        <p:spPr>
          <a:xfrm>
            <a:off x="5187950" y="1890911"/>
            <a:ext cx="4724400" cy="1892300"/>
          </a:xfrm>
          <a:prstGeom prst="roundRect">
            <a:avLst>
              <a:gd name="adj" fmla="val 3691"/>
            </a:avLst>
          </a:prstGeom>
        </p:spPr>
      </p:pic>
      <p:sp>
        <p:nvSpPr>
          <p:cNvPr id="12" name="Shape 8"/>
          <p:cNvSpPr/>
          <p:nvPr/>
        </p:nvSpPr>
        <p:spPr>
          <a:xfrm>
            <a:off x="5184775" y="1887736"/>
            <a:ext cx="4730750" cy="1898650"/>
          </a:xfrm>
          <a:prstGeom prst="roundRect">
            <a:avLst>
              <a:gd name="adj" fmla="val 3846"/>
            </a:avLst>
          </a:prstGeom>
          <a:noFill/>
          <a:ln w="6350">
            <a:solidFill>
              <a:srgbClr val="E3DCCB"/>
            </a:solidFill>
            <a:prstDash val="solid"/>
          </a:ln>
        </p:spPr>
      </p:sp>
      <p:sp>
        <p:nvSpPr>
          <p:cNvPr id="13" name="Text 9"/>
          <p:cNvSpPr/>
          <p:nvPr/>
        </p:nvSpPr>
        <p:spPr>
          <a:xfrm>
            <a:off x="4724400" y="4066580"/>
            <a:ext cx="330200" cy="330200"/>
          </a:xfrm>
          <a:custGeom>
            <a:avLst/>
            <a:gdLst/>
            <a:ahLst/>
            <a:cxnLst/>
            <a:rect l="l" t="t" r="r" b="b"/>
            <a:pathLst>
              <a:path w="330200" h="330200">
                <a:moveTo>
                  <a:pt x="165100" y="0"/>
                </a:moveTo>
                <a:lnTo>
                  <a:pt x="165100" y="0"/>
                </a:lnTo>
                <a:arcTo hR="165100" wR="165100" stAng="16200000" swAng="5400000"/>
                <a:lnTo>
                  <a:pt x="330200" y="165100"/>
                </a:lnTo>
                <a:arcTo hR="165100" wR="165100" stAng="0" swAng="5400000"/>
                <a:lnTo>
                  <a:pt x="165100" y="330200"/>
                </a:lnTo>
                <a:arcTo hR="165100" wR="165100" stAng="5400000" swAng="5400000"/>
                <a:lnTo>
                  <a:pt x="0" y="165100"/>
                </a:lnTo>
                <a:arcTo hR="165100" wR="165100" stAng="10800000" swAng="5400000"/>
                <a:close/>
              </a:path>
            </a:pathLst>
          </a:custGeom>
          <a:solidFill>
            <a:srgbClr val="1E3A2B"/>
          </a:solidFill>
          <a:ln/>
        </p:spPr>
        <p:txBody>
          <a:bodyPr wrap="square" lIns="0" tIns="0" rIns="0" bIns="0" rtlCol="0" anchor="ctr">
            <a:normAutofit/>
          </a:bodyPr>
          <a:lstStyle/>
          <a:p>
            <a:pPr algn="ctr" indent="0" marL="0">
              <a:lnSpc>
                <a:spcPts val="1960"/>
              </a:lnSpc>
              <a:buNone/>
            </a:pPr>
            <a:r>
              <a:rPr lang="en-US" sz="1400" b="1" dirty="0">
                <a:solidFill>
                  <a:srgbClr val="FAF7F0"/>
                </a:solidFill>
                <a:latin typeface="DM Sans" pitchFamily="34" charset="0"/>
                <a:ea typeface="DM Sans" pitchFamily="34" charset="-122"/>
                <a:cs typeface="DM Sans" pitchFamily="34" charset="-120"/>
              </a:rPr>
              <a:t>3</a:t>
            </a:r>
            <a:endParaRPr lang="en-US" sz="1400" dirty="0"/>
          </a:p>
        </p:txBody>
      </p:sp>
      <p:sp>
        <p:nvSpPr>
          <p:cNvPr id="14" name="Text 10"/>
          <p:cNvSpPr/>
          <p:nvPr/>
        </p:nvSpPr>
        <p:spPr>
          <a:xfrm>
            <a:off x="5181600" y="4066580"/>
            <a:ext cx="431673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F2A24"/>
                </a:solidFill>
                <a:latin typeface="DM Sans" pitchFamily="34" charset="0"/>
                <a:ea typeface="DM Sans" pitchFamily="34" charset="-122"/>
                <a:cs typeface="DM Sans" pitchFamily="34" charset="-120"/>
              </a:rPr>
              <a:t>በመጨረሻ </a:t>
            </a:r>
            <a:r>
              <a:rPr lang="en-US" sz="1600" b="1" dirty="0">
                <a:solidFill>
                  <a:srgbClr val="1F2A24"/>
                </a:solidFill>
                <a:latin typeface="DM Sans" pitchFamily="34" charset="0"/>
                <a:ea typeface="DM Sans" pitchFamily="34" charset="-122"/>
                <a:cs typeface="DM Sans" pitchFamily="34" charset="-120"/>
              </a:rPr>
              <a:t>Bekreft</a:t>
            </a:r>
            <a:r>
              <a:rPr lang="en-US" sz="1600" dirty="0">
                <a:solidFill>
                  <a:srgbClr val="1F2A24"/>
                </a:solidFill>
                <a:latin typeface="DM Sans" pitchFamily="34" charset="0"/>
                <a:ea typeface="DM Sans" pitchFamily="34" charset="-122"/>
                <a:cs typeface="DM Sans" pitchFamily="34" charset="-120"/>
              </a:rPr>
              <a:t> ይጫኑ።</a:t>
            </a:r>
            <a:endParaRPr lang="en-US" sz="1600" dirty="0"/>
          </a:p>
        </p:txBody>
      </p:sp>
      <p:sp>
        <p:nvSpPr>
          <p:cNvPr id="15" name="Shape 11"/>
          <p:cNvSpPr/>
          <p:nvPr/>
        </p:nvSpPr>
        <p:spPr>
          <a:xfrm>
            <a:off x="5181600" y="4381500"/>
            <a:ext cx="4191000" cy="1460500"/>
          </a:xfrm>
          <a:prstGeom prst="roundRect">
            <a:avLst>
              <a:gd name="adj" fmla="val 5217"/>
            </a:avLst>
          </a:prstGeom>
          <a:solidFill>
            <a:srgbClr val="FFFFFF"/>
          </a:solidFill>
          <a:ln/>
        </p:spPr>
      </p:sp>
      <p:pic>
        <p:nvPicPr>
          <p:cNvPr id="16" name="Image 2" descr="Bekreft fast oppdrag">    </p:cNvPr>
          <p:cNvPicPr>
            <a:picLocks noChangeAspect="1"/>
          </p:cNvPicPr>
          <p:nvPr/>
        </p:nvPicPr>
        <p:blipFill>
          <a:blip r:embed="rId3"/>
          <a:srcRect l="-266" r="-266" t="0" b="0"/>
          <a:stretch/>
        </p:blipFill>
        <p:spPr>
          <a:xfrm>
            <a:off x="5187950" y="4387850"/>
            <a:ext cx="4178300" cy="1447800"/>
          </a:xfrm>
          <a:prstGeom prst="roundRect">
            <a:avLst>
              <a:gd name="adj" fmla="val 4825"/>
            </a:avLst>
          </a:prstGeom>
        </p:spPr>
      </p:pic>
      <p:sp>
        <p:nvSpPr>
          <p:cNvPr id="17" name="Shape 12"/>
          <p:cNvSpPr/>
          <p:nvPr/>
        </p:nvSpPr>
        <p:spPr>
          <a:xfrm>
            <a:off x="5184775" y="4384675"/>
            <a:ext cx="4184650" cy="1454150"/>
          </a:xfrm>
          <a:prstGeom prst="roundRect">
            <a:avLst>
              <a:gd name="adj" fmla="val 5022"/>
            </a:avLst>
          </a:prstGeom>
          <a:noFill/>
          <a:ln w="6350">
            <a:solidFill>
              <a:srgbClr val="E3DCCB"/>
            </a:solidFill>
            <a:prstDash val="solid"/>
          </a:ln>
        </p:spPr>
      </p:sp>
      <p:sp>
        <p:nvSpPr>
          <p:cNvPr id="18" name="Text 1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B62"/>
                </a:solidFill>
                <a:latin typeface="DM Sans" pitchFamily="34" charset="0"/>
                <a:ea typeface="DM Sans" pitchFamily="34" charset="-122"/>
                <a:cs typeface="DM Sans" pitchFamily="34" charset="-120"/>
              </a:rPr>
              <a:t>Til konto: </a:t>
            </a:r>
            <a:r>
              <a:rPr lang="en-US" sz="1200" b="1" dirty="0">
                <a:solidFill>
                  <a:srgbClr val="5B6B62"/>
                </a:solidFill>
                <a:latin typeface="DM Sans" pitchFamily="34" charset="0"/>
                <a:ea typeface="DM Sans" pitchFamily="34" charset="-122"/>
                <a:cs typeface="DM Sans" pitchFamily="34" charset="-120"/>
              </a:rPr>
              <a:t>3201 10 52249</a:t>
            </a:r>
            <a:r>
              <a:rPr lang="en-US" sz="1200" dirty="0">
                <a:solidFill>
                  <a:srgbClr val="5B6B62"/>
                </a:solidFill>
                <a:latin typeface="DM Sans" pitchFamily="34" charset="0"/>
                <a:ea typeface="DM Sans" pitchFamily="34" charset="-122"/>
                <a:cs typeface="DM Sans" pitchFamily="34" charset="-120"/>
              </a:rPr>
              <a:t> · Melding: </a:t>
            </a:r>
            <a:r>
              <a:rPr lang="en-US" sz="1200" b="1" dirty="0">
                <a:solidFill>
                  <a:srgbClr val="5B6B62"/>
                </a:solidFill>
                <a:latin typeface="DM Sans" pitchFamily="34" charset="0"/>
                <a:ea typeface="DM Sans" pitchFamily="34" charset="-122"/>
                <a:cs typeface="DM Sans" pitchFamily="34" charset="-120"/>
              </a:rPr>
              <a:t>Medlemskontingent – ሙሉ ስምዎ</a:t>
            </a:r>
            <a:r>
              <a:rPr lang="en-US" sz="1200" dirty="0">
                <a:solidFill>
                  <a:srgbClr val="5B6B62"/>
                </a:solidFill>
                <a:latin typeface="DM Sans" pitchFamily="34" charset="0"/>
                <a:ea typeface="DM Sans" pitchFamily="34" charset="-122"/>
                <a:cs typeface="DM Sans" pitchFamily="34" charset="-120"/>
              </a:rPr>
              <a:t> · </a:t>
            </a:r>
            <a:r>
              <a:rPr lang="en-US" sz="1200" b="1" dirty="0">
                <a:solidFill>
                  <a:srgbClr val="5B6B62"/>
                </a:solidFill>
                <a:latin typeface="DM Sans" pitchFamily="34" charset="0"/>
                <a:ea typeface="DM Sans" pitchFamily="34" charset="-122"/>
                <a:cs typeface="DM Sans" pitchFamily="34" charset="-120"/>
              </a:rPr>
              <a:t>Månedlig</a:t>
            </a:r>
            <a:endParaRPr lang="en-US" sz="1200" dirty="0"/>
          </a:p>
        </p:txBody>
      </p:sp>
      <p:pic>
        <p:nvPicPr>
          <p:cNvPr id="19" name="Image 3" descr="images (2).jpeg">    </p:cNvPr>
          <p:cNvPicPr>
            <a:picLocks noChangeAspect="1"/>
          </p:cNvPicPr>
          <p:nvPr/>
        </p:nvPicPr>
        <p:blipFill>
          <a:blip r:embed="rId4"/>
          <a:srcRect l="0" r="0" t="34073" b="34073"/>
          <a:stretch/>
        </p:blipFill>
        <p:spPr>
          <a:xfrm>
            <a:off x="8180040" y="236835"/>
            <a:ext cx="3199110" cy="5759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p:nvPr>
            <p:ph type="title"/>
          </p:nvPr>
        </p:nvSpPr>
        <p:spPr>
          <a:xfrm>
            <a:off x="812800" y="711200"/>
            <a:ext cx="10883392" cy="513060"/>
          </a:xfrm>
          <a:prstGeom prst="rect">
            <a:avLst/>
          </a:prstGeom>
          <a:noFill/>
          <a:ln/>
        </p:spPr>
        <p:txBody>
          <a:bodyPr wrap="square" lIns="0" tIns="0" rIns="0" bIns="0" rtlCol="0" anchor="t">
            <a:normAutofit/>
          </a:bodyPr>
          <a:lstStyle/>
          <a:p>
            <a:pPr algn="l" indent="0" marL="0">
              <a:lnSpc>
                <a:spcPts val="3840"/>
              </a:lnSpc>
              <a:buNone/>
            </a:pPr>
            <a:r>
              <a:rPr lang="en-US" sz="3200" b="1" i="0" dirty="0">
                <a:solidFill>
                  <a:srgbClr val="1E3A2B"/>
                </a:solidFill>
                <a:latin typeface="Noto Sans Ethiopic" pitchFamily="34" charset="0"/>
                <a:ea typeface="Noto Sans Ethiopic" pitchFamily="34" charset="-122"/>
                <a:cs typeface="Noto Sans Ethiopic" pitchFamily="34" charset="-120"/>
              </a:rPr>
              <a:t>ሌሎች የመክፈያ መንገዶች</a:t>
            </a:r>
            <a:endParaRPr lang="en-US" sz="3200" dirty="0"/>
          </a:p>
        </p:txBody>
      </p:sp>
      <p:sp>
        <p:nvSpPr>
          <p:cNvPr id="3" name="Text 1"/>
          <p:cNvSpPr/>
          <p:nvPr/>
        </p:nvSpPr>
        <p:spPr>
          <a:xfrm>
            <a:off x="812800" y="1452860"/>
            <a:ext cx="10566400" cy="873720"/>
          </a:xfrm>
          <a:prstGeom prst="roundRect">
            <a:avLst>
              <a:gd name="adj" fmla="val 11628"/>
            </a:avLst>
          </a:prstGeom>
          <a:solidFill>
            <a:srgbClr val="F3E6C8"/>
          </a:solidFill>
          <a:ln/>
        </p:spPr>
        <p:txBody>
          <a:bodyPr wrap="square" lIns="173442" tIns="122642" rIns="0" bIns="97242" rtlCol="0" anchor="t">
            <a:normAutofit/>
          </a:bodyPr>
          <a:lstStyle/>
          <a:p>
            <a:pPr algn="l" indent="0" marL="0">
              <a:lnSpc>
                <a:spcPts val="2240"/>
              </a:lnSpc>
              <a:buNone/>
            </a:pPr>
            <a:r>
              <a:rPr lang="en-US" sz="1600" dirty="0">
                <a:solidFill>
                  <a:srgbClr val="5B4A1E"/>
                </a:solidFill>
                <a:latin typeface="DM Sans" pitchFamily="34" charset="0"/>
                <a:ea typeface="DM Sans" pitchFamily="34" charset="-122"/>
                <a:cs typeface="DM Sans" pitchFamily="34" charset="-120"/>
              </a:rPr>
              <a:t>እነዚህ ለአንድ ጊዜ ክፍያ ወይም ስጦታ ናቸው፤ በየወሩ ራሳቸው አይደገሙም። ለወር መዋጮ ቋሚ ክፍያ (</a:t>
            </a:r>
            <a:r>
              <a:rPr lang="en-US" sz="1600" b="1" dirty="0">
                <a:solidFill>
                  <a:srgbClr val="5B4A1E"/>
                </a:solidFill>
                <a:latin typeface="DM Sans" pitchFamily="34" charset="0"/>
                <a:ea typeface="DM Sans" pitchFamily="34" charset="-122"/>
                <a:cs typeface="DM Sans" pitchFamily="34" charset="-120"/>
              </a:rPr>
              <a:t>fast betaling</a:t>
            </a:r>
            <a:r>
              <a:rPr lang="en-US" sz="1600" dirty="0">
                <a:solidFill>
                  <a:srgbClr val="5B4A1E"/>
                </a:solidFill>
                <a:latin typeface="DM Sans" pitchFamily="34" charset="0"/>
                <a:ea typeface="DM Sans" pitchFamily="34" charset="-122"/>
                <a:cs typeface="DM Sans" pitchFamily="34" charset="-120"/>
              </a:rPr>
              <a:t>) ይመረጣል።</a:t>
            </a:r>
            <a:endParaRPr lang="en-US" sz="1600" dirty="0"/>
          </a:p>
        </p:txBody>
      </p:sp>
      <p:sp>
        <p:nvSpPr>
          <p:cNvPr id="4" name="Shape 2"/>
          <p:cNvSpPr/>
          <p:nvPr/>
        </p:nvSpPr>
        <p:spPr>
          <a:xfrm>
            <a:off x="815975" y="2583755"/>
            <a:ext cx="5175250" cy="3458270"/>
          </a:xfrm>
          <a:prstGeom prst="roundRect">
            <a:avLst>
              <a:gd name="adj" fmla="val 3581"/>
            </a:avLst>
          </a:prstGeom>
          <a:solidFill>
            <a:srgbClr val="FFFDF8"/>
          </a:solidFill>
          <a:ln w="6350">
            <a:solidFill>
              <a:srgbClr val="E3DCCB"/>
            </a:solidFill>
            <a:prstDash val="solid"/>
          </a:ln>
        </p:spPr>
      </p:sp>
      <p:sp>
        <p:nvSpPr>
          <p:cNvPr id="5" name="Text 3"/>
          <p:cNvSpPr/>
          <p:nvPr/>
        </p:nvSpPr>
        <p:spPr>
          <a:xfrm>
            <a:off x="1123950" y="2891730"/>
            <a:ext cx="4696079"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116"/>
                </a:solidFill>
                <a:latin typeface="DM Sans" pitchFamily="34" charset="0"/>
                <a:ea typeface="DM Sans" pitchFamily="34" charset="-122"/>
                <a:cs typeface="DM Sans" pitchFamily="34" charset="-120"/>
              </a:rPr>
              <a:t>VIPPS</a:t>
            </a:r>
            <a:endParaRPr lang="en-US" sz="1400" dirty="0"/>
          </a:p>
        </p:txBody>
      </p:sp>
      <p:sp>
        <p:nvSpPr>
          <p:cNvPr id="6" name="Text 4"/>
          <p:cNvSpPr/>
          <p:nvPr/>
        </p:nvSpPr>
        <p:spPr>
          <a:xfrm>
            <a:off x="1123950" y="3267621"/>
            <a:ext cx="4696079"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E3A2B"/>
                </a:solidFill>
                <a:latin typeface="DM Sans" pitchFamily="34" charset="0"/>
                <a:ea typeface="DM Sans" pitchFamily="34" charset="-122"/>
                <a:cs typeface="DM Sans" pitchFamily="34" charset="-120"/>
              </a:rPr>
              <a:t>552790</a:t>
            </a:r>
            <a:endParaRPr lang="en-US" sz="4800" dirty="0"/>
          </a:p>
        </p:txBody>
      </p:sp>
      <p:sp>
        <p:nvSpPr>
          <p:cNvPr id="7" name="Text 5"/>
          <p:cNvSpPr/>
          <p:nvPr/>
        </p:nvSpPr>
        <p:spPr>
          <a:xfrm>
            <a:off x="1160264" y="4065141"/>
            <a:ext cx="4652145" cy="1163241"/>
          </a:xfrm>
          <a:prstGeom prst="rect">
            <a:avLst/>
          </a:prstGeom>
          <a:noFill/>
          <a:ln/>
        </p:spPr>
        <p:txBody>
          <a:bodyPr wrap="square" lIns="0" tIns="0" rIns="0" bIns="0" rtlCol="0" anchor="t">
            <a:normAutofit/>
          </a:bodyPr>
          <a:lstStyle/>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Vipps ይክፈቱ።</a:t>
            </a:r>
            <a:endParaRPr lang="en-US" sz="1600" dirty="0"/>
          </a:p>
          <a:p>
            <a:pPr algn="l" marL="217686" indent="-217686">
              <a:lnSpc>
                <a:spcPts val="2240"/>
              </a:lnSpc>
              <a:buSzPct val="100000"/>
              <a:buFontTx/>
              <a:buAutoNum type="arabicPeriod" startAt="1"/>
            </a:pPr>
            <a:r>
              <a:rPr lang="en-US" sz="1600" b="1" dirty="0">
                <a:solidFill>
                  <a:srgbClr val="3B4A42"/>
                </a:solidFill>
                <a:latin typeface="DM Sans" pitchFamily="34" charset="0"/>
                <a:ea typeface="DM Sans" pitchFamily="34" charset="-122"/>
                <a:cs typeface="DM Sans" pitchFamily="34" charset="-120"/>
              </a:rPr>
              <a:t>552790</a:t>
            </a:r>
            <a:r>
              <a:rPr lang="en-US" sz="1600" dirty="0">
                <a:solidFill>
                  <a:srgbClr val="3B4A42"/>
                </a:solidFill>
                <a:latin typeface="DM Sans" pitchFamily="34" charset="0"/>
                <a:ea typeface="DM Sans" pitchFamily="34" charset="-122"/>
                <a:cs typeface="DM Sans" pitchFamily="34" charset="-120"/>
              </a:rPr>
              <a:t> ይፈልጉ ወይም QR ኮዱን ይቃኙ።</a:t>
            </a:r>
            <a:endParaRPr lang="en-US" sz="1600" dirty="0"/>
          </a:p>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መጠኑን ያስገቡ፣ በመልእክቱ ሙሉ ስምዎን ይጻፉ።</a:t>
            </a:r>
            <a:endParaRPr lang="en-US" sz="1600" dirty="0"/>
          </a:p>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ይክፈሉ።</a:t>
            </a:r>
            <a:endParaRPr lang="en-US" sz="1600" dirty="0"/>
          </a:p>
        </p:txBody>
      </p:sp>
      <p:sp>
        <p:nvSpPr>
          <p:cNvPr id="8" name="Shape 6"/>
          <p:cNvSpPr/>
          <p:nvPr/>
        </p:nvSpPr>
        <p:spPr>
          <a:xfrm>
            <a:off x="6200775" y="2583755"/>
            <a:ext cx="5175250" cy="3458270"/>
          </a:xfrm>
          <a:prstGeom prst="roundRect">
            <a:avLst>
              <a:gd name="adj" fmla="val 3581"/>
            </a:avLst>
          </a:prstGeom>
          <a:solidFill>
            <a:srgbClr val="FFFDF8"/>
          </a:solidFill>
          <a:ln w="6350">
            <a:solidFill>
              <a:srgbClr val="E3DCCB"/>
            </a:solidFill>
            <a:prstDash val="solid"/>
          </a:ln>
        </p:spPr>
      </p:sp>
      <p:sp>
        <p:nvSpPr>
          <p:cNvPr id="9" name="Text 7"/>
          <p:cNvSpPr/>
          <p:nvPr/>
        </p:nvSpPr>
        <p:spPr>
          <a:xfrm>
            <a:off x="6508750" y="2891730"/>
            <a:ext cx="4696079" cy="27429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8A6116"/>
                </a:solidFill>
                <a:latin typeface="DM Sans" pitchFamily="34" charset="0"/>
                <a:ea typeface="DM Sans" pitchFamily="34" charset="-122"/>
                <a:cs typeface="DM Sans" pitchFamily="34" charset="-120"/>
              </a:rPr>
              <a:t>ድረ-ገጽ · PAYPAL</a:t>
            </a:r>
            <a:endParaRPr lang="en-US" sz="1400" dirty="0"/>
          </a:p>
        </p:txBody>
      </p:sp>
      <p:sp>
        <p:nvSpPr>
          <p:cNvPr id="10" name="Text 8"/>
          <p:cNvSpPr/>
          <p:nvPr/>
        </p:nvSpPr>
        <p:spPr>
          <a:xfrm>
            <a:off x="6508750" y="3267621"/>
            <a:ext cx="4696079"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E3A2B"/>
                </a:solidFill>
                <a:latin typeface="DM Sans" pitchFamily="34" charset="0"/>
                <a:ea typeface="DM Sans" pitchFamily="34" charset="-122"/>
                <a:cs typeface="DM Sans" pitchFamily="34" charset="-120"/>
              </a:rPr>
              <a:t>eotc-stavanger.no/a</a:t>
            </a:r>
            <a:endParaRPr lang="en-US" sz="3200" dirty="0"/>
          </a:p>
        </p:txBody>
      </p:sp>
      <p:sp>
        <p:nvSpPr>
          <p:cNvPr id="11" name="Text 9"/>
          <p:cNvSpPr/>
          <p:nvPr/>
        </p:nvSpPr>
        <p:spPr>
          <a:xfrm>
            <a:off x="6545064" y="3841651"/>
            <a:ext cx="4652145" cy="1163241"/>
          </a:xfrm>
          <a:prstGeom prst="rect">
            <a:avLst/>
          </a:prstGeom>
          <a:noFill/>
          <a:ln/>
        </p:spPr>
        <p:txBody>
          <a:bodyPr wrap="square" lIns="0" tIns="0" rIns="0" bIns="0" rtlCol="0" anchor="t">
            <a:normAutofit/>
          </a:bodyPr>
          <a:lstStyle/>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የቤተ ክርስቲያኑን ድረ-ገጽ ይክፈቱ።</a:t>
            </a:r>
            <a:endParaRPr lang="en-US" sz="1600" dirty="0"/>
          </a:p>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በምናሌው ላይ </a:t>
            </a:r>
            <a:r>
              <a:rPr lang="en-US" sz="1600" b="1" dirty="0">
                <a:solidFill>
                  <a:srgbClr val="3B4A42"/>
                </a:solidFill>
                <a:latin typeface="DM Sans" pitchFamily="34" charset="0"/>
                <a:ea typeface="DM Sans" pitchFamily="34" charset="-122"/>
                <a:cs typeface="DM Sans" pitchFamily="34" charset="-120"/>
              </a:rPr>
              <a:t>«ይለግሱ»</a:t>
            </a:r>
            <a:r>
              <a:rPr lang="en-US" sz="1600" dirty="0">
                <a:solidFill>
                  <a:srgbClr val="3B4A42"/>
                </a:solidFill>
                <a:latin typeface="DM Sans" pitchFamily="34" charset="0"/>
                <a:ea typeface="DM Sans" pitchFamily="34" charset="-122"/>
                <a:cs typeface="DM Sans" pitchFamily="34" charset="-120"/>
              </a:rPr>
              <a:t> ይጫኑ።</a:t>
            </a:r>
            <a:endParaRPr lang="en-US" sz="1600" dirty="0"/>
          </a:p>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በ </a:t>
            </a:r>
            <a:r>
              <a:rPr lang="en-US" sz="1600" b="1" dirty="0">
                <a:solidFill>
                  <a:srgbClr val="3B4A42"/>
                </a:solidFill>
                <a:latin typeface="DM Sans" pitchFamily="34" charset="0"/>
                <a:ea typeface="DM Sans" pitchFamily="34" charset="-122"/>
                <a:cs typeface="DM Sans" pitchFamily="34" charset="-120"/>
              </a:rPr>
              <a:t>PayPal</a:t>
            </a:r>
            <a:r>
              <a:rPr lang="en-US" sz="1600" dirty="0">
                <a:solidFill>
                  <a:srgbClr val="3B4A42"/>
                </a:solidFill>
                <a:latin typeface="DM Sans" pitchFamily="34" charset="0"/>
                <a:ea typeface="DM Sans" pitchFamily="34" charset="-122"/>
                <a:cs typeface="DM Sans" pitchFamily="34" charset="-120"/>
              </a:rPr>
              <a:t> ወይም በካርድ ይክፈሉ።</a:t>
            </a:r>
            <a:endParaRPr lang="en-US" sz="1600" dirty="0"/>
          </a:p>
          <a:p>
            <a:pPr algn="l" marL="217686" indent="-217686">
              <a:lnSpc>
                <a:spcPts val="2240"/>
              </a:lnSpc>
              <a:buSzPct val="100000"/>
              <a:buFontTx/>
              <a:buAutoNum type="arabicPeriod" startAt="1"/>
            </a:pPr>
            <a:r>
              <a:rPr lang="en-US" sz="1600" dirty="0">
                <a:solidFill>
                  <a:srgbClr val="3B4A42"/>
                </a:solidFill>
                <a:latin typeface="DM Sans" pitchFamily="34" charset="0"/>
                <a:ea typeface="DM Sans" pitchFamily="34" charset="-122"/>
                <a:cs typeface="DM Sans" pitchFamily="34" charset="-120"/>
              </a:rPr>
              <a:t>ስምዎን ማስገባት አይርሱ።</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2B"/>
        </a:solidFill>
      </p:bgPr>
    </p:bg>
    <p:spTree>
      <p:nvGrpSpPr>
        <p:cNvPr id="1" name=""/>
        <p:cNvGrpSpPr/>
        <p:nvPr/>
      </p:nvGrpSpPr>
      <p:grpSpPr>
        <a:xfrm>
          <a:off x="0" y="0"/>
          <a:ext cx="0" cy="0"/>
          <a:chOff x="0" y="0"/>
          <a:chExt cx="0" cy="0"/>
        </a:xfrm>
      </p:grpSpPr>
      <p:sp>
        <p:nvSpPr>
          <p:cNvPr id="2" name="Text 0"/>
          <p:cNvSpPr/>
          <p:nvPr>
            <p:ph type="title"/>
          </p:nvPr>
        </p:nvSpPr>
        <p:spPr>
          <a:xfrm>
            <a:off x="812800" y="1678980"/>
            <a:ext cx="10883392" cy="695920"/>
          </a:xfrm>
          <a:prstGeom prst="rect">
            <a:avLst/>
          </a:prstGeom>
          <a:noFill/>
          <a:ln/>
        </p:spPr>
        <p:txBody>
          <a:bodyPr wrap="square" lIns="0" tIns="0" rIns="0" bIns="0" rtlCol="0" anchor="t">
            <a:normAutofit/>
          </a:bodyPr>
          <a:lstStyle/>
          <a:p>
            <a:pPr algn="l" indent="0" marL="0">
              <a:lnSpc>
                <a:spcPts val="5280"/>
              </a:lnSpc>
              <a:buNone/>
            </a:pPr>
            <a:r>
              <a:rPr lang="en-US" sz="4400" b="1" i="0" dirty="0">
                <a:solidFill>
                  <a:srgbClr val="FAF7F0"/>
                </a:solidFill>
                <a:latin typeface="Noto Sans Ethiopic" pitchFamily="34" charset="0"/>
                <a:ea typeface="Noto Sans Ethiopic" pitchFamily="34" charset="-122"/>
                <a:cs typeface="Noto Sans Ethiopic" pitchFamily="34" charset="-120"/>
              </a:rPr>
              <a:t>እርዳታ ይፈልጋሉ?</a:t>
            </a:r>
            <a:endParaRPr lang="en-US" sz="4400" dirty="0"/>
          </a:p>
        </p:txBody>
      </p:sp>
      <p:sp>
        <p:nvSpPr>
          <p:cNvPr id="3" name="Text 1"/>
          <p:cNvSpPr/>
          <p:nvPr/>
        </p:nvSpPr>
        <p:spPr>
          <a:xfrm>
            <a:off x="812800" y="2654300"/>
            <a:ext cx="10883392"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5E2D9"/>
                </a:solidFill>
                <a:latin typeface="DM Sans" pitchFamily="34" charset="0"/>
                <a:ea typeface="DM Sans" pitchFamily="34" charset="-122"/>
                <a:cs typeface="DM Sans" pitchFamily="34" charset="-120"/>
              </a:rPr>
              <a:t>ከቅዳሴ በኋላ ስልክዎን ይዘው ይምጡ፤ አብረን እናዘጋጃለን። የእያንዳንዱ ባንክ መመሪያ ምስሎች በ Telegram ይላካሉ።</a:t>
            </a:r>
            <a:endParaRPr lang="en-US" sz="2000" dirty="0"/>
          </a:p>
        </p:txBody>
      </p:sp>
      <p:sp>
        <p:nvSpPr>
          <p:cNvPr id="4" name="Shape 2"/>
          <p:cNvSpPr/>
          <p:nvPr/>
        </p:nvSpPr>
        <p:spPr>
          <a:xfrm>
            <a:off x="812800" y="3670300"/>
            <a:ext cx="5181600" cy="1305520"/>
          </a:xfrm>
          <a:prstGeom prst="roundRect">
            <a:avLst>
              <a:gd name="adj" fmla="val 9728"/>
            </a:avLst>
          </a:prstGeom>
          <a:solidFill>
            <a:srgbClr val="264A37"/>
          </a:solidFill>
          <a:ln/>
        </p:spPr>
      </p:sp>
      <p:sp>
        <p:nvSpPr>
          <p:cNvPr id="5" name="Text 3"/>
          <p:cNvSpPr/>
          <p:nvPr/>
        </p:nvSpPr>
        <p:spPr>
          <a:xfrm>
            <a:off x="1066800" y="3924300"/>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B3"/>
                </a:solidFill>
                <a:latin typeface="DM Sans" pitchFamily="34" charset="0"/>
                <a:ea typeface="DM Sans" pitchFamily="34" charset="-122"/>
                <a:cs typeface="DM Sans" pitchFamily="34" charset="-120"/>
              </a:rPr>
              <a:t>የሂሳብ ቁጥር</a:t>
            </a:r>
            <a:endParaRPr lang="en-US" sz="1400" dirty="0"/>
          </a:p>
        </p:txBody>
      </p:sp>
      <p:sp>
        <p:nvSpPr>
          <p:cNvPr id="6" name="Text 4"/>
          <p:cNvSpPr/>
          <p:nvPr/>
        </p:nvSpPr>
        <p:spPr>
          <a:xfrm>
            <a:off x="1066800" y="4223990"/>
            <a:ext cx="4813808"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2B65A"/>
                </a:solidFill>
                <a:latin typeface="DM Sans" pitchFamily="34" charset="0"/>
                <a:ea typeface="DM Sans" pitchFamily="34" charset="-122"/>
                <a:cs typeface="DM Sans" pitchFamily="34" charset="-120"/>
              </a:rPr>
              <a:t>3201 10 52249</a:t>
            </a:r>
            <a:endParaRPr lang="en-US" sz="2800" dirty="0"/>
          </a:p>
        </p:txBody>
      </p:sp>
      <p:sp>
        <p:nvSpPr>
          <p:cNvPr id="7" name="Shape 5"/>
          <p:cNvSpPr/>
          <p:nvPr/>
        </p:nvSpPr>
        <p:spPr>
          <a:xfrm>
            <a:off x="6197600" y="3670300"/>
            <a:ext cx="5181600" cy="1305520"/>
          </a:xfrm>
          <a:prstGeom prst="roundRect">
            <a:avLst>
              <a:gd name="adj" fmla="val 9728"/>
            </a:avLst>
          </a:prstGeom>
          <a:solidFill>
            <a:srgbClr val="264A37"/>
          </a:solidFill>
          <a:ln/>
        </p:spPr>
      </p:sp>
      <p:sp>
        <p:nvSpPr>
          <p:cNvPr id="8" name="Text 6"/>
          <p:cNvSpPr/>
          <p:nvPr/>
        </p:nvSpPr>
        <p:spPr>
          <a:xfrm>
            <a:off x="6451600" y="3924300"/>
            <a:ext cx="481380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C2B3"/>
                </a:solidFill>
                <a:latin typeface="DM Sans" pitchFamily="34" charset="0"/>
                <a:ea typeface="DM Sans" pitchFamily="34" charset="-122"/>
                <a:cs typeface="DM Sans" pitchFamily="34" charset="-120"/>
              </a:rPr>
              <a:t>መልእክት (Melding)</a:t>
            </a:r>
            <a:endParaRPr lang="en-US" sz="1400" dirty="0"/>
          </a:p>
        </p:txBody>
      </p:sp>
      <p:sp>
        <p:nvSpPr>
          <p:cNvPr id="9" name="Text 7"/>
          <p:cNvSpPr/>
          <p:nvPr/>
        </p:nvSpPr>
        <p:spPr>
          <a:xfrm>
            <a:off x="6451600" y="4223990"/>
            <a:ext cx="481380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AF7F0"/>
                </a:solidFill>
                <a:latin typeface="DM Sans" pitchFamily="34" charset="0"/>
                <a:ea typeface="DM Sans" pitchFamily="34" charset="-122"/>
                <a:cs typeface="DM Sans" pitchFamily="34" charset="-120"/>
              </a:rPr>
              <a:t>Medlemskontingent – ሙሉ ስምዎ</a:t>
            </a:r>
            <a:endParaRPr lang="en-US" sz="2000" dirty="0"/>
          </a:p>
        </p:txBody>
      </p:sp>
      <p:sp>
        <p:nvSpPr>
          <p:cNvPr id="10" name="Text 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C2B3"/>
                </a:solidFill>
                <a:latin typeface="DM Sans" pitchFamily="34" charset="0"/>
                <a:ea typeface="DM Sans" pitchFamily="34" charset="-122"/>
                <a:cs typeface="DM Sans" pitchFamily="34" charset="-120"/>
              </a:rPr>
              <a:t>እግዚአብሔር ይስጥልን</a:t>
            </a:r>
            <a:endParaRPr lang="en-US" sz="1200" dirty="0"/>
          </a:p>
        </p:txBody>
      </p:sp>
    </p:spTree>
  </p:cSld>
  <p:clrMapOvr>
    <a:masterClrMapping/>
  </p:clrMapOvr>
</p:sld>
</file>

<file path=ppt/theme/theme1.xml><?xml version="1.0" encoding="utf-8"?>
<a:theme xmlns:a="http://schemas.openxmlformats.org/drawingml/2006/main" name="የወር መዋጮ በቋሚነት ለመክፈል">
  <a:themeElements>
    <a:clrScheme name="የወር መዋጮ በቋሚነት ለመክፈል">
      <a:dk1>
        <a:srgbClr val="1E3A2B"/>
      </a:dk1>
      <a:lt1>
        <a:srgbClr val="FAF7F0"/>
      </a:lt1>
      <a:dk2>
        <a:srgbClr val="55695C"/>
      </a:dk2>
      <a:lt2>
        <a:srgbClr val="E4E4DC"/>
      </a:lt2>
      <a:accent1>
        <a:srgbClr val="C8962E"/>
      </a:accent1>
      <a:accent2>
        <a:srgbClr val="E2B65A"/>
      </a:accent2>
      <a:accent3>
        <a:srgbClr val="8A6116"/>
      </a:accent3>
      <a:accent4>
        <a:srgbClr val="F3E6C8"/>
      </a:accent4>
      <a:accent5>
        <a:srgbClr val="8A3B12"/>
      </a:accent5>
      <a:accent6>
        <a:srgbClr val="5B4A1E"/>
      </a:accent6>
      <a:hlink>
        <a:srgbClr val="0563C1"/>
      </a:hlink>
      <a:folHlink>
        <a:srgbClr val="954F72"/>
      </a:folHlink>
    </a:clrScheme>
    <a:fontScheme name="የወር መዋጮ በቋሚነት ለመክፈል">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የወር መዋጮ በቋሚነት ለመክፈል</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Noto Sans Ethiopic
Copyright 2022 The Noto Project Authors (https://github.com/notofonts/ethiopic)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2026-10-24T21:04:48Z</dcterms:created>
  <dcterms:modified xsi:type="dcterms:W3CDTF">2026-10-24T21:04:48Z</dcterms:modified>
</cp:coreProperties>
</file>